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F45"/>
        </a:solidFill>
        <a:effectLst/>
      </p:bgPr>
    </p:bg>
    <p:spTree>
      <p:nvGrpSpPr>
        <p:cNvPr id="1" name=""/>
        <p:cNvGrpSpPr/>
        <p:nvPr/>
      </p:nvGrpSpPr>
      <p:grpSpPr/>
      <p:sp>
        <p:nvSpPr>
          <p:cNvPr id="2" name="Rectangle 1"/>
          <p:cNvSpPr/>
          <p:nvPr/>
        </p:nvSpPr>
        <p:spPr>
          <a:xfrm>
            <a:off x="8732520" y="0"/>
            <a:ext cx="3459175" cy="6858000"/>
          </a:xfrm>
          <a:prstGeom prst="rect">
            <a:avLst/>
          </a:prstGeom>
          <a:solidFill>
            <a:srgbClr val="122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89720" y="731520"/>
            <a:ext cx="118872" cy="118872"/>
          </a:xfrm>
          <a:prstGeom prst="ellipse">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92640" y="731520"/>
            <a:ext cx="118872" cy="118872"/>
          </a:xfrm>
          <a:prstGeom prst="ellipse">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195560" y="731520"/>
            <a:ext cx="118872" cy="118872"/>
          </a:xfrm>
          <a:prstGeom prst="ellipse">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698480" y="731520"/>
            <a:ext cx="118872" cy="118872"/>
          </a:xfrm>
          <a:prstGeom prst="ellipse">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89720" y="1325880"/>
            <a:ext cx="118872" cy="118872"/>
          </a:xfrm>
          <a:prstGeom prst="ellipse">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92640" y="1325880"/>
            <a:ext cx="118872" cy="118872"/>
          </a:xfrm>
          <a:prstGeom prst="ellipse">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95560" y="1325880"/>
            <a:ext cx="118872" cy="118872"/>
          </a:xfrm>
          <a:prstGeom prst="ellipse">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98480" y="1325880"/>
            <a:ext cx="118872" cy="118872"/>
          </a:xfrm>
          <a:prstGeom prst="ellipse">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189720" y="1920240"/>
            <a:ext cx="118872" cy="118872"/>
          </a:xfrm>
          <a:prstGeom prst="ellipse">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692640" y="1920240"/>
            <a:ext cx="118872" cy="118872"/>
          </a:xfrm>
          <a:prstGeom prst="ellipse">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195560" y="1920240"/>
            <a:ext cx="118872" cy="118872"/>
          </a:xfrm>
          <a:prstGeom prst="ellipse">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698480" y="1920240"/>
            <a:ext cx="118872" cy="118872"/>
          </a:xfrm>
          <a:prstGeom prst="ellipse">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189720" y="2514600"/>
            <a:ext cx="118872" cy="118872"/>
          </a:xfrm>
          <a:prstGeom prst="ellipse">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0" y="2514600"/>
            <a:ext cx="118872" cy="118872"/>
          </a:xfrm>
          <a:prstGeom prst="ellipse">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195560" y="2514600"/>
            <a:ext cx="118872" cy="118872"/>
          </a:xfrm>
          <a:prstGeom prst="ellipse">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98480" y="2514600"/>
            <a:ext cx="118872" cy="118872"/>
          </a:xfrm>
          <a:prstGeom prst="ellipse">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89720" y="3108960"/>
            <a:ext cx="118872" cy="118872"/>
          </a:xfrm>
          <a:prstGeom prst="ellipse">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692640" y="3108960"/>
            <a:ext cx="118872" cy="118872"/>
          </a:xfrm>
          <a:prstGeom prst="ellipse">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195560" y="3108960"/>
            <a:ext cx="118872" cy="118872"/>
          </a:xfrm>
          <a:prstGeom prst="ellipse">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698480" y="3108960"/>
            <a:ext cx="118872" cy="118872"/>
          </a:xfrm>
          <a:prstGeom prst="ellipse">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walmart_logo.png"/>
          <p:cNvPicPr>
            <a:picLocks noChangeAspect="1"/>
          </p:cNvPicPr>
          <p:nvPr/>
        </p:nvPicPr>
        <p:blipFill>
          <a:blip r:embed="rId2"/>
          <a:stretch>
            <a:fillRect/>
          </a:stretch>
        </p:blipFill>
        <p:spPr>
          <a:xfrm>
            <a:off x="9555480" y="2011680"/>
            <a:ext cx="1600200" cy="1600200"/>
          </a:xfrm>
          <a:prstGeom prst="rect">
            <a:avLst/>
          </a:prstGeom>
        </p:spPr>
      </p:pic>
      <p:sp>
        <p:nvSpPr>
          <p:cNvPr id="24" name="TextBox 23"/>
          <p:cNvSpPr txBox="1"/>
          <p:nvPr/>
        </p:nvSpPr>
        <p:spPr>
          <a:xfrm>
            <a:off x="749808" y="841248"/>
            <a:ext cx="7498079" cy="320040"/>
          </a:xfrm>
          <a:prstGeom prst="rect">
            <a:avLst/>
          </a:prstGeom>
          <a:noFill/>
        </p:spPr>
        <p:txBody>
          <a:bodyPr wrap="square" lIns="36576" rIns="36576" tIns="36576" bIns="36576" anchor="t">
            <a:spAutoFit/>
          </a:bodyPr>
          <a:lstStyle/>
          <a:p>
            <a:pPr algn="l"/>
            <a:r>
              <a:rPr sz="1100" b="1" i="0">
                <a:solidFill>
                  <a:srgbClr val="FFC220"/>
                </a:solidFill>
                <a:latin typeface="Aptos"/>
              </a:rPr>
              <a:t>SUPPLY CHAIN ANALYTICS  |  DATA &amp; BUSINESS INTELLIGENCE</a:t>
            </a:r>
          </a:p>
        </p:txBody>
      </p:sp>
      <p:sp>
        <p:nvSpPr>
          <p:cNvPr id="25" name="TextBox 24"/>
          <p:cNvSpPr txBox="1"/>
          <p:nvPr/>
        </p:nvSpPr>
        <p:spPr>
          <a:xfrm>
            <a:off x="749808" y="1325880"/>
            <a:ext cx="7680960" cy="1965960"/>
          </a:xfrm>
          <a:prstGeom prst="rect">
            <a:avLst/>
          </a:prstGeom>
          <a:noFill/>
        </p:spPr>
        <p:txBody>
          <a:bodyPr wrap="square" lIns="36576" rIns="36576" tIns="36576" bIns="36576" anchor="t">
            <a:spAutoFit/>
          </a:bodyPr>
          <a:lstStyle/>
          <a:p>
            <a:pPr algn="l"/>
            <a:r>
              <a:rPr sz="3100" b="1" i="0">
                <a:solidFill>
                  <a:srgbClr val="FFFFFF"/>
                </a:solidFill>
                <a:latin typeface="Aptos"/>
              </a:rPr>
              <a:t>Walmart Supply Chain
Analytics Dashboard</a:t>
            </a:r>
          </a:p>
        </p:txBody>
      </p:sp>
      <p:sp>
        <p:nvSpPr>
          <p:cNvPr id="26" name="TextBox 25"/>
          <p:cNvSpPr txBox="1"/>
          <p:nvPr/>
        </p:nvSpPr>
        <p:spPr>
          <a:xfrm>
            <a:off x="768096" y="3493008"/>
            <a:ext cx="7223760" cy="502920"/>
          </a:xfrm>
          <a:prstGeom prst="rect">
            <a:avLst/>
          </a:prstGeom>
          <a:noFill/>
        </p:spPr>
        <p:txBody>
          <a:bodyPr wrap="square" lIns="36576" rIns="36576" tIns="36576" bIns="36576" anchor="t">
            <a:spAutoFit/>
          </a:bodyPr>
          <a:lstStyle/>
          <a:p>
            <a:pPr algn="l"/>
            <a:r>
              <a:rPr sz="1800" b="0" i="0">
                <a:solidFill>
                  <a:srgbClr val="CFD9E8"/>
                </a:solidFill>
                <a:latin typeface="Aptos"/>
              </a:rPr>
              <a:t>A MySQL, SQL &amp; Power BI Analytics Project</a:t>
            </a:r>
          </a:p>
        </p:txBody>
      </p:sp>
      <p:sp>
        <p:nvSpPr>
          <p:cNvPr id="27" name="TextBox 26"/>
          <p:cNvSpPr txBox="1"/>
          <p:nvPr/>
        </p:nvSpPr>
        <p:spPr>
          <a:xfrm>
            <a:off x="768096" y="4736592"/>
            <a:ext cx="6126480" cy="411480"/>
          </a:xfrm>
          <a:prstGeom prst="rect">
            <a:avLst/>
          </a:prstGeom>
          <a:noFill/>
        </p:spPr>
        <p:txBody>
          <a:bodyPr wrap="square" lIns="36576" rIns="36576" tIns="36576" bIns="36576" anchor="t">
            <a:spAutoFit/>
          </a:bodyPr>
          <a:lstStyle/>
          <a:p>
            <a:pPr algn="l"/>
            <a:r>
              <a:rPr sz="1700" b="1" i="0">
                <a:solidFill>
                  <a:srgbClr val="FFFFFF"/>
                </a:solidFill>
                <a:latin typeface="Aptos"/>
              </a:rPr>
              <a:t>Divya Varshini R - AF05264781</a:t>
            </a:r>
          </a:p>
        </p:txBody>
      </p:sp>
      <p:sp>
        <p:nvSpPr>
          <p:cNvPr id="28" name="TextBox 27"/>
          <p:cNvSpPr txBox="1"/>
          <p:nvPr/>
        </p:nvSpPr>
        <p:spPr>
          <a:xfrm>
            <a:off x="768096" y="5257800"/>
            <a:ext cx="7498079" cy="457200"/>
          </a:xfrm>
          <a:prstGeom prst="rect">
            <a:avLst/>
          </a:prstGeom>
          <a:noFill/>
        </p:spPr>
        <p:txBody>
          <a:bodyPr wrap="square" lIns="36576" rIns="36576" tIns="36576" bIns="36576" anchor="t">
            <a:spAutoFit/>
          </a:bodyPr>
          <a:lstStyle/>
          <a:p>
            <a:pPr algn="l"/>
            <a:r>
              <a:rPr sz="1150" b="0" i="0">
                <a:solidFill>
                  <a:srgbClr val="CFD9E8"/>
                </a:solidFill>
                <a:latin typeface="Aptos"/>
              </a:rPr>
              <a:t>Data Analytics / Business Intelligence  •  MySQL | SQL | Power BI | Power Query | DAX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F45"/>
        </a:solidFill>
        <a:effectLst/>
      </p:bgPr>
    </p:bg>
    <p:spTree>
      <p:nvGrpSpPr>
        <p:cNvPr id="1" name=""/>
        <p:cNvGrpSpPr/>
        <p:nvPr/>
      </p:nvGrpSpPr>
      <p:grpSpPr/>
      <p:sp>
        <p:nvSpPr>
          <p:cNvPr id="2" name="TextBox 1"/>
          <p:cNvSpPr txBox="1"/>
          <p:nvPr/>
        </p:nvSpPr>
        <p:spPr>
          <a:xfrm>
            <a:off x="658368" y="347472"/>
            <a:ext cx="2926080" cy="274320"/>
          </a:xfrm>
          <a:prstGeom prst="rect">
            <a:avLst/>
          </a:prstGeom>
          <a:noFill/>
        </p:spPr>
        <p:txBody>
          <a:bodyPr wrap="square" lIns="36576" rIns="36576" tIns="36576" bIns="36576" anchor="t">
            <a:spAutoFit/>
          </a:bodyPr>
          <a:lstStyle/>
          <a:p>
            <a:pPr algn="l"/>
            <a:r>
              <a:rPr sz="1100" b="1" i="0">
                <a:solidFill>
                  <a:srgbClr val="FFC220"/>
                </a:solidFill>
                <a:latin typeface="Aptos"/>
              </a:rPr>
              <a:t>INTRODUCTION</a:t>
            </a:r>
          </a:p>
        </p:txBody>
      </p:sp>
      <p:sp>
        <p:nvSpPr>
          <p:cNvPr id="3" name="TextBox 2"/>
          <p:cNvSpPr txBox="1"/>
          <p:nvPr/>
        </p:nvSpPr>
        <p:spPr>
          <a:xfrm>
            <a:off x="658368" y="685800"/>
            <a:ext cx="8138160" cy="530352"/>
          </a:xfrm>
          <a:prstGeom prst="rect">
            <a:avLst/>
          </a:prstGeom>
          <a:noFill/>
        </p:spPr>
        <p:txBody>
          <a:bodyPr wrap="square" lIns="36576" rIns="36576" tIns="36576" bIns="36576" anchor="t">
            <a:spAutoFit/>
          </a:bodyPr>
          <a:lstStyle/>
          <a:p>
            <a:pPr algn="l"/>
            <a:r>
              <a:rPr sz="2500" b="1" i="0">
                <a:solidFill>
                  <a:srgbClr val="FFFFFF"/>
                </a:solidFill>
                <a:latin typeface="Aptos"/>
              </a:rPr>
              <a:t>Project Overview &amp; Problem Statement</a:t>
            </a:r>
          </a:p>
        </p:txBody>
      </p:sp>
      <p:sp>
        <p:nvSpPr>
          <p:cNvPr id="4" name="Rectangle 3"/>
          <p:cNvSpPr/>
          <p:nvPr/>
        </p:nvSpPr>
        <p:spPr>
          <a:xfrm>
            <a:off x="658368" y="1307592"/>
            <a:ext cx="1051560" cy="5029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73952"/>
            <a:ext cx="6858000" cy="201168"/>
          </a:xfrm>
          <a:prstGeom prst="rect">
            <a:avLst/>
          </a:prstGeom>
          <a:noFill/>
        </p:spPr>
        <p:txBody>
          <a:bodyPr wrap="square" lIns="36576" rIns="36576" tIns="36576" bIns="36576" anchor="t">
            <a:spAutoFit/>
          </a:bodyPr>
          <a:lstStyle/>
          <a:p>
            <a:pPr algn="l"/>
            <a:r>
              <a:rPr sz="850" b="0" i="0">
                <a:solidFill>
                  <a:srgbClr val="CFD9E8"/>
                </a:solidFill>
                <a:latin typeface="Aptos"/>
              </a:rPr>
              <a:t>Walmart Supply Chain Analytics Dashboard</a:t>
            </a:r>
          </a:p>
        </p:txBody>
      </p:sp>
      <p:sp>
        <p:nvSpPr>
          <p:cNvPr id="6" name="TextBox 5"/>
          <p:cNvSpPr txBox="1"/>
          <p:nvPr/>
        </p:nvSpPr>
        <p:spPr>
          <a:xfrm>
            <a:off x="11018520" y="6446520"/>
            <a:ext cx="502920" cy="228600"/>
          </a:xfrm>
          <a:prstGeom prst="rect">
            <a:avLst/>
          </a:prstGeom>
          <a:noFill/>
        </p:spPr>
        <p:txBody>
          <a:bodyPr wrap="square" lIns="36576" rIns="36576" tIns="36576" bIns="36576" anchor="t">
            <a:spAutoFit/>
          </a:bodyPr>
          <a:lstStyle/>
          <a:p>
            <a:pPr algn="r"/>
            <a:r>
              <a:rPr sz="900" b="0" i="0">
                <a:solidFill>
                  <a:srgbClr val="CFD9E8"/>
                </a:solidFill>
                <a:latin typeface="Aptos"/>
              </a:rPr>
              <a:t>2</a:t>
            </a:r>
          </a:p>
        </p:txBody>
      </p:sp>
      <p:sp>
        <p:nvSpPr>
          <p:cNvPr id="7" name="Rounded Rectangle 6"/>
          <p:cNvSpPr/>
          <p:nvPr/>
        </p:nvSpPr>
        <p:spPr>
          <a:xfrm>
            <a:off x="658368" y="1627632"/>
            <a:ext cx="5257800" cy="1965960"/>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27632"/>
            <a:ext cx="68580" cy="1965960"/>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773936"/>
            <a:ext cx="4937760" cy="310896"/>
          </a:xfrm>
          <a:prstGeom prst="rect">
            <a:avLst/>
          </a:prstGeom>
          <a:noFill/>
        </p:spPr>
        <p:txBody>
          <a:bodyPr wrap="square" lIns="36576" rIns="36576" tIns="36576" bIns="36576" anchor="t">
            <a:spAutoFit/>
          </a:bodyPr>
          <a:lstStyle/>
          <a:p>
            <a:pPr algn="l"/>
            <a:r>
              <a:rPr sz="1500" b="1" i="0">
                <a:solidFill>
                  <a:srgbClr val="FFFFFF"/>
                </a:solidFill>
                <a:latin typeface="Aptos"/>
              </a:rPr>
              <a:t>Project Overview</a:t>
            </a:r>
          </a:p>
        </p:txBody>
      </p:sp>
      <p:sp>
        <p:nvSpPr>
          <p:cNvPr id="10" name="TextBox 9"/>
          <p:cNvSpPr txBox="1"/>
          <p:nvPr/>
        </p:nvSpPr>
        <p:spPr>
          <a:xfrm>
            <a:off x="859536" y="2148840"/>
            <a:ext cx="4937760" cy="1307592"/>
          </a:xfrm>
          <a:prstGeom prst="rect">
            <a:avLst/>
          </a:prstGeom>
          <a:noFill/>
        </p:spPr>
        <p:txBody>
          <a:bodyPr wrap="square" lIns="36576" rIns="36576" tIns="36576" bIns="36576" anchor="t">
            <a:spAutoFit/>
          </a:bodyPr>
          <a:lstStyle/>
          <a:p>
            <a:pPr algn="l"/>
            <a:r>
              <a:rPr sz="1350" b="0" i="0">
                <a:solidFill>
                  <a:srgbClr val="CFD9E8"/>
                </a:solidFill>
                <a:latin typeface="Aptos"/>
              </a:rPr>
              <a:t>An end-to-end analytics project analyzing sales, orders, inventory, shipments, stores, warehouses and supplier performance across a structured Walmart supply chain dataset.</a:t>
            </a:r>
          </a:p>
        </p:txBody>
      </p:sp>
      <p:sp>
        <p:nvSpPr>
          <p:cNvPr id="11" name="Rounded Rectangle 10"/>
          <p:cNvSpPr/>
          <p:nvPr/>
        </p:nvSpPr>
        <p:spPr>
          <a:xfrm>
            <a:off x="658368" y="3767328"/>
            <a:ext cx="5257800" cy="1783080"/>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767328"/>
            <a:ext cx="68580" cy="178308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3913632"/>
            <a:ext cx="4937760" cy="310896"/>
          </a:xfrm>
          <a:prstGeom prst="rect">
            <a:avLst/>
          </a:prstGeom>
          <a:noFill/>
        </p:spPr>
        <p:txBody>
          <a:bodyPr wrap="square" lIns="36576" rIns="36576" tIns="36576" bIns="36576" anchor="t">
            <a:spAutoFit/>
          </a:bodyPr>
          <a:lstStyle/>
          <a:p>
            <a:pPr algn="l"/>
            <a:r>
              <a:rPr sz="1500" b="1" i="0">
                <a:solidFill>
                  <a:srgbClr val="FFFFFF"/>
                </a:solidFill>
                <a:latin typeface="Aptos"/>
              </a:rPr>
              <a:t>Objectives</a:t>
            </a:r>
          </a:p>
        </p:txBody>
      </p:sp>
      <p:sp>
        <p:nvSpPr>
          <p:cNvPr id="14" name="TextBox 13"/>
          <p:cNvSpPr txBox="1"/>
          <p:nvPr/>
        </p:nvSpPr>
        <p:spPr>
          <a:xfrm>
            <a:off x="859536" y="4288536"/>
            <a:ext cx="4937760" cy="1124712"/>
          </a:xfrm>
          <a:prstGeom prst="rect">
            <a:avLst/>
          </a:prstGeom>
          <a:noFill/>
        </p:spPr>
        <p:txBody>
          <a:bodyPr wrap="square" lIns="36576" rIns="36576" tIns="36576" bIns="36576" anchor="t">
            <a:spAutoFit/>
          </a:bodyPr>
          <a:lstStyle/>
          <a:p>
            <a:pPr algn="l"/>
            <a:r>
              <a:rPr sz="1350" b="0" i="0">
                <a:solidFill>
                  <a:srgbClr val="CFD9E8"/>
                </a:solidFill>
                <a:latin typeface="Aptos"/>
              </a:rPr>
              <a:t>Track sales and orders • Monitor inventory and stock levels • Identify reorder requirements • Analyze shipment delays • Compare regional and supplier performance.</a:t>
            </a:r>
          </a:p>
        </p:txBody>
      </p:sp>
      <p:sp>
        <p:nvSpPr>
          <p:cNvPr id="15" name="Rounded Rectangle 14"/>
          <p:cNvSpPr/>
          <p:nvPr/>
        </p:nvSpPr>
        <p:spPr>
          <a:xfrm>
            <a:off x="6199632" y="1627632"/>
            <a:ext cx="5321808" cy="3922776"/>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9632" y="1627632"/>
            <a:ext cx="68580" cy="3922776"/>
          </a:xfrm>
          <a:prstGeom prst="rect">
            <a:avLst/>
          </a:prstGeom>
          <a:solidFill>
            <a:srgbClr val="238C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773936"/>
            <a:ext cx="5001768" cy="310896"/>
          </a:xfrm>
          <a:prstGeom prst="rect">
            <a:avLst/>
          </a:prstGeom>
          <a:noFill/>
        </p:spPr>
        <p:txBody>
          <a:bodyPr wrap="square" lIns="36576" rIns="36576" tIns="36576" bIns="36576" anchor="t">
            <a:spAutoFit/>
          </a:bodyPr>
          <a:lstStyle/>
          <a:p>
            <a:pPr algn="l"/>
            <a:r>
              <a:rPr sz="1500" b="1" i="0">
                <a:solidFill>
                  <a:srgbClr val="FFFFFF"/>
                </a:solidFill>
                <a:latin typeface="Aptos"/>
              </a:rPr>
              <a:t>Business Problem</a:t>
            </a:r>
          </a:p>
        </p:txBody>
      </p:sp>
      <p:sp>
        <p:nvSpPr>
          <p:cNvPr id="18" name="TextBox 17"/>
          <p:cNvSpPr txBox="1"/>
          <p:nvPr/>
        </p:nvSpPr>
        <p:spPr>
          <a:xfrm>
            <a:off x="6400800" y="2148840"/>
            <a:ext cx="5001768" cy="3264408"/>
          </a:xfrm>
          <a:prstGeom prst="rect">
            <a:avLst/>
          </a:prstGeom>
          <a:noFill/>
        </p:spPr>
        <p:txBody>
          <a:bodyPr wrap="square" lIns="36576" rIns="36576" tIns="36576" bIns="36576" anchor="t">
            <a:spAutoFit/>
          </a:bodyPr>
          <a:lstStyle/>
          <a:p>
            <a:pPr algn="l"/>
            <a:r>
              <a:rPr sz="1400" b="0" i="0">
                <a:solidFill>
                  <a:srgbClr val="CFD9E8"/>
                </a:solidFill>
                <a:latin typeface="Aptos"/>
              </a:rPr>
              <a:t>Supply chain teams need a single, reliable view of operational performance. Disconnected data can make it difficult to monitor stock, shipment delays, regional differences and supplier activity. The dashboard brings these metrics together for faster analysis and decision-making.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F45"/>
        </a:solidFill>
        <a:effectLst/>
      </p:bgPr>
    </p:bg>
    <p:spTree>
      <p:nvGrpSpPr>
        <p:cNvPr id="1" name=""/>
        <p:cNvGrpSpPr/>
        <p:nvPr/>
      </p:nvGrpSpPr>
      <p:grpSpPr/>
      <p:sp>
        <p:nvSpPr>
          <p:cNvPr id="2" name="TextBox 1"/>
          <p:cNvSpPr txBox="1"/>
          <p:nvPr/>
        </p:nvSpPr>
        <p:spPr>
          <a:xfrm>
            <a:off x="658368" y="347472"/>
            <a:ext cx="2926080" cy="274320"/>
          </a:xfrm>
          <a:prstGeom prst="rect">
            <a:avLst/>
          </a:prstGeom>
          <a:noFill/>
        </p:spPr>
        <p:txBody>
          <a:bodyPr wrap="square" lIns="36576" rIns="36576" tIns="36576" bIns="36576" anchor="t">
            <a:spAutoFit/>
          </a:bodyPr>
          <a:lstStyle/>
          <a:p>
            <a:pPr algn="l"/>
            <a:r>
              <a:rPr sz="1100" b="1" i="0">
                <a:solidFill>
                  <a:srgbClr val="FFC220"/>
                </a:solidFill>
                <a:latin typeface="Aptos"/>
              </a:rPr>
              <a:t>TECH STACK</a:t>
            </a:r>
          </a:p>
        </p:txBody>
      </p:sp>
      <p:sp>
        <p:nvSpPr>
          <p:cNvPr id="3" name="TextBox 2"/>
          <p:cNvSpPr txBox="1"/>
          <p:nvPr/>
        </p:nvSpPr>
        <p:spPr>
          <a:xfrm>
            <a:off x="658368" y="685800"/>
            <a:ext cx="8138160" cy="530352"/>
          </a:xfrm>
          <a:prstGeom prst="rect">
            <a:avLst/>
          </a:prstGeom>
          <a:noFill/>
        </p:spPr>
        <p:txBody>
          <a:bodyPr wrap="square" lIns="36576" rIns="36576" tIns="36576" bIns="36576" anchor="t">
            <a:spAutoFit/>
          </a:bodyPr>
          <a:lstStyle/>
          <a:p>
            <a:pPr algn="l"/>
            <a:r>
              <a:rPr sz="2500" b="1" i="0">
                <a:solidFill>
                  <a:srgbClr val="FFFFFF"/>
                </a:solidFill>
                <a:latin typeface="Aptos"/>
              </a:rPr>
              <a:t>Tools &amp; Technologies</a:t>
            </a:r>
          </a:p>
        </p:txBody>
      </p:sp>
      <p:sp>
        <p:nvSpPr>
          <p:cNvPr id="4" name="Rectangle 3"/>
          <p:cNvSpPr/>
          <p:nvPr/>
        </p:nvSpPr>
        <p:spPr>
          <a:xfrm>
            <a:off x="658368" y="1307592"/>
            <a:ext cx="1051560" cy="5029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73952"/>
            <a:ext cx="6858000" cy="201168"/>
          </a:xfrm>
          <a:prstGeom prst="rect">
            <a:avLst/>
          </a:prstGeom>
          <a:noFill/>
        </p:spPr>
        <p:txBody>
          <a:bodyPr wrap="square" lIns="36576" rIns="36576" tIns="36576" bIns="36576" anchor="t">
            <a:spAutoFit/>
          </a:bodyPr>
          <a:lstStyle/>
          <a:p>
            <a:pPr algn="l"/>
            <a:r>
              <a:rPr sz="850" b="0" i="0">
                <a:solidFill>
                  <a:srgbClr val="CFD9E8"/>
                </a:solidFill>
                <a:latin typeface="Aptos"/>
              </a:rPr>
              <a:t>Walmart Supply Chain Analytics Dashboard</a:t>
            </a:r>
          </a:p>
        </p:txBody>
      </p:sp>
      <p:sp>
        <p:nvSpPr>
          <p:cNvPr id="6" name="TextBox 5"/>
          <p:cNvSpPr txBox="1"/>
          <p:nvPr/>
        </p:nvSpPr>
        <p:spPr>
          <a:xfrm>
            <a:off x="11018520" y="6446520"/>
            <a:ext cx="502920" cy="228600"/>
          </a:xfrm>
          <a:prstGeom prst="rect">
            <a:avLst/>
          </a:prstGeom>
          <a:noFill/>
        </p:spPr>
        <p:txBody>
          <a:bodyPr wrap="square" lIns="36576" rIns="36576" tIns="36576" bIns="36576" anchor="t">
            <a:spAutoFit/>
          </a:bodyPr>
          <a:lstStyle/>
          <a:p>
            <a:pPr algn="r"/>
            <a:r>
              <a:rPr sz="900" b="0" i="0">
                <a:solidFill>
                  <a:srgbClr val="CFD9E8"/>
                </a:solidFill>
                <a:latin typeface="Aptos"/>
              </a:rPr>
              <a:t>3</a:t>
            </a:r>
          </a:p>
        </p:txBody>
      </p:sp>
      <p:sp>
        <p:nvSpPr>
          <p:cNvPr id="7" name="Rounded Rectangle 6"/>
          <p:cNvSpPr/>
          <p:nvPr/>
        </p:nvSpPr>
        <p:spPr>
          <a:xfrm>
            <a:off x="658368" y="1645920"/>
            <a:ext cx="3182112" cy="1645920"/>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45920"/>
            <a:ext cx="68580" cy="1645920"/>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792224"/>
            <a:ext cx="2862072" cy="310896"/>
          </a:xfrm>
          <a:prstGeom prst="rect">
            <a:avLst/>
          </a:prstGeom>
          <a:noFill/>
        </p:spPr>
        <p:txBody>
          <a:bodyPr wrap="square" lIns="36576" rIns="36576" tIns="36576" bIns="36576" anchor="t">
            <a:spAutoFit/>
          </a:bodyPr>
          <a:lstStyle/>
          <a:p>
            <a:pPr algn="l"/>
            <a:r>
              <a:rPr sz="1500" b="1" i="0">
                <a:solidFill>
                  <a:srgbClr val="FFFFFF"/>
                </a:solidFill>
                <a:latin typeface="Aptos"/>
              </a:rPr>
              <a:t>MySQL</a:t>
            </a:r>
          </a:p>
        </p:txBody>
      </p:sp>
      <p:sp>
        <p:nvSpPr>
          <p:cNvPr id="10" name="TextBox 9"/>
          <p:cNvSpPr txBox="1"/>
          <p:nvPr/>
        </p:nvSpPr>
        <p:spPr>
          <a:xfrm>
            <a:off x="859536" y="2167128"/>
            <a:ext cx="2862072" cy="987552"/>
          </a:xfrm>
          <a:prstGeom prst="rect">
            <a:avLst/>
          </a:prstGeom>
          <a:noFill/>
        </p:spPr>
        <p:txBody>
          <a:bodyPr wrap="square" lIns="36576" rIns="36576" tIns="36576" bIns="36576" anchor="t">
            <a:spAutoFit/>
          </a:bodyPr>
          <a:lstStyle/>
          <a:p>
            <a:pPr algn="l"/>
            <a:r>
              <a:rPr sz="1250" b="0" i="0">
                <a:solidFill>
                  <a:srgbClr val="CFD9E8"/>
                </a:solidFill>
                <a:latin typeface="Aptos"/>
              </a:rPr>
              <a:t>Database creation, storage &amp; data management</a:t>
            </a:r>
          </a:p>
        </p:txBody>
      </p:sp>
      <p:sp>
        <p:nvSpPr>
          <p:cNvPr id="11" name="Rounded Rectangle 10"/>
          <p:cNvSpPr/>
          <p:nvPr/>
        </p:nvSpPr>
        <p:spPr>
          <a:xfrm>
            <a:off x="4114800" y="1645920"/>
            <a:ext cx="3182112" cy="1645920"/>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0" y="1645920"/>
            <a:ext cx="68580" cy="164592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15968" y="1792224"/>
            <a:ext cx="2862072" cy="310896"/>
          </a:xfrm>
          <a:prstGeom prst="rect">
            <a:avLst/>
          </a:prstGeom>
          <a:noFill/>
        </p:spPr>
        <p:txBody>
          <a:bodyPr wrap="square" lIns="36576" rIns="36576" tIns="36576" bIns="36576" anchor="t">
            <a:spAutoFit/>
          </a:bodyPr>
          <a:lstStyle/>
          <a:p>
            <a:pPr algn="l"/>
            <a:r>
              <a:rPr sz="1500" b="1" i="0">
                <a:solidFill>
                  <a:srgbClr val="FFFFFF"/>
                </a:solidFill>
                <a:latin typeface="Aptos"/>
              </a:rPr>
              <a:t>SQL</a:t>
            </a:r>
          </a:p>
        </p:txBody>
      </p:sp>
      <p:sp>
        <p:nvSpPr>
          <p:cNvPr id="14" name="TextBox 13"/>
          <p:cNvSpPr txBox="1"/>
          <p:nvPr/>
        </p:nvSpPr>
        <p:spPr>
          <a:xfrm>
            <a:off x="4315968" y="2167128"/>
            <a:ext cx="2862072" cy="987552"/>
          </a:xfrm>
          <a:prstGeom prst="rect">
            <a:avLst/>
          </a:prstGeom>
          <a:noFill/>
        </p:spPr>
        <p:txBody>
          <a:bodyPr wrap="square" lIns="36576" rIns="36576" tIns="36576" bIns="36576" anchor="t">
            <a:spAutoFit/>
          </a:bodyPr>
          <a:lstStyle/>
          <a:p>
            <a:pPr algn="l"/>
            <a:r>
              <a:rPr sz="1250" b="0" i="0">
                <a:solidFill>
                  <a:srgbClr val="CFD9E8"/>
                </a:solidFill>
                <a:latin typeface="Aptos"/>
              </a:rPr>
              <a:t>Data validation, inspection &amp; analysis</a:t>
            </a:r>
          </a:p>
        </p:txBody>
      </p:sp>
      <p:sp>
        <p:nvSpPr>
          <p:cNvPr id="15" name="Rounded Rectangle 14"/>
          <p:cNvSpPr/>
          <p:nvPr/>
        </p:nvSpPr>
        <p:spPr>
          <a:xfrm>
            <a:off x="7571231" y="1645920"/>
            <a:ext cx="3182112" cy="1645920"/>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571231" y="1645920"/>
            <a:ext cx="68580" cy="1645920"/>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1792224"/>
            <a:ext cx="2862072" cy="310896"/>
          </a:xfrm>
          <a:prstGeom prst="rect">
            <a:avLst/>
          </a:prstGeom>
          <a:noFill/>
        </p:spPr>
        <p:txBody>
          <a:bodyPr wrap="square" lIns="36576" rIns="36576" tIns="36576" bIns="36576" anchor="t">
            <a:spAutoFit/>
          </a:bodyPr>
          <a:lstStyle/>
          <a:p>
            <a:pPr algn="l"/>
            <a:r>
              <a:rPr sz="1500" b="1" i="0">
                <a:solidFill>
                  <a:srgbClr val="FFFFFF"/>
                </a:solidFill>
                <a:latin typeface="Aptos"/>
              </a:rPr>
              <a:t>Power BI</a:t>
            </a:r>
          </a:p>
        </p:txBody>
      </p:sp>
      <p:sp>
        <p:nvSpPr>
          <p:cNvPr id="18" name="TextBox 17"/>
          <p:cNvSpPr txBox="1"/>
          <p:nvPr/>
        </p:nvSpPr>
        <p:spPr>
          <a:xfrm>
            <a:off x="7772400" y="2167128"/>
            <a:ext cx="2862072" cy="987552"/>
          </a:xfrm>
          <a:prstGeom prst="rect">
            <a:avLst/>
          </a:prstGeom>
          <a:noFill/>
        </p:spPr>
        <p:txBody>
          <a:bodyPr wrap="square" lIns="36576" rIns="36576" tIns="36576" bIns="36576" anchor="t">
            <a:spAutoFit/>
          </a:bodyPr>
          <a:lstStyle/>
          <a:p>
            <a:pPr algn="l"/>
            <a:r>
              <a:rPr sz="1250" b="0" i="0">
                <a:solidFill>
                  <a:srgbClr val="CFD9E8"/>
                </a:solidFill>
                <a:latin typeface="Aptos"/>
              </a:rPr>
              <a:t>Interactive dashboards &amp; visualization</a:t>
            </a:r>
          </a:p>
        </p:txBody>
      </p:sp>
      <p:sp>
        <p:nvSpPr>
          <p:cNvPr id="19" name="Rounded Rectangle 18"/>
          <p:cNvSpPr/>
          <p:nvPr/>
        </p:nvSpPr>
        <p:spPr>
          <a:xfrm>
            <a:off x="658368" y="3749039"/>
            <a:ext cx="3182112" cy="1645920"/>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 y="3749039"/>
            <a:ext cx="68580" cy="1645920"/>
          </a:xfrm>
          <a:prstGeom prst="rect">
            <a:avLst/>
          </a:prstGeom>
          <a:solidFill>
            <a:srgbClr val="238C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3895344"/>
            <a:ext cx="2862072" cy="310896"/>
          </a:xfrm>
          <a:prstGeom prst="rect">
            <a:avLst/>
          </a:prstGeom>
          <a:noFill/>
        </p:spPr>
        <p:txBody>
          <a:bodyPr wrap="square" lIns="36576" rIns="36576" tIns="36576" bIns="36576" anchor="t">
            <a:spAutoFit/>
          </a:bodyPr>
          <a:lstStyle/>
          <a:p>
            <a:pPr algn="l"/>
            <a:r>
              <a:rPr sz="1500" b="1" i="0">
                <a:solidFill>
                  <a:srgbClr val="FFFFFF"/>
                </a:solidFill>
                <a:latin typeface="Aptos"/>
              </a:rPr>
              <a:t>Power Query</a:t>
            </a:r>
          </a:p>
        </p:txBody>
      </p:sp>
      <p:sp>
        <p:nvSpPr>
          <p:cNvPr id="22" name="TextBox 21"/>
          <p:cNvSpPr txBox="1"/>
          <p:nvPr/>
        </p:nvSpPr>
        <p:spPr>
          <a:xfrm>
            <a:off x="859536" y="4270248"/>
            <a:ext cx="2862072" cy="987552"/>
          </a:xfrm>
          <a:prstGeom prst="rect">
            <a:avLst/>
          </a:prstGeom>
          <a:noFill/>
        </p:spPr>
        <p:txBody>
          <a:bodyPr wrap="square" lIns="36576" rIns="36576" tIns="36576" bIns="36576" anchor="t">
            <a:spAutoFit/>
          </a:bodyPr>
          <a:lstStyle/>
          <a:p>
            <a:pPr algn="l"/>
            <a:r>
              <a:rPr sz="1250" b="0" i="0">
                <a:solidFill>
                  <a:srgbClr val="CFD9E8"/>
                </a:solidFill>
                <a:latin typeface="Aptos"/>
              </a:rPr>
              <a:t>Data preparation &amp; transformation</a:t>
            </a:r>
          </a:p>
        </p:txBody>
      </p:sp>
      <p:sp>
        <p:nvSpPr>
          <p:cNvPr id="23" name="Rounded Rectangle 22"/>
          <p:cNvSpPr/>
          <p:nvPr/>
        </p:nvSpPr>
        <p:spPr>
          <a:xfrm>
            <a:off x="4114800" y="3749039"/>
            <a:ext cx="3182112" cy="1645920"/>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0" y="3749039"/>
            <a:ext cx="68580" cy="164592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15968" y="3895344"/>
            <a:ext cx="2862072" cy="310896"/>
          </a:xfrm>
          <a:prstGeom prst="rect">
            <a:avLst/>
          </a:prstGeom>
          <a:noFill/>
        </p:spPr>
        <p:txBody>
          <a:bodyPr wrap="square" lIns="36576" rIns="36576" tIns="36576" bIns="36576" anchor="t">
            <a:spAutoFit/>
          </a:bodyPr>
          <a:lstStyle/>
          <a:p>
            <a:pPr algn="l"/>
            <a:r>
              <a:rPr sz="1500" b="1" i="0">
                <a:solidFill>
                  <a:srgbClr val="FFFFFF"/>
                </a:solidFill>
                <a:latin typeface="Aptos"/>
              </a:rPr>
              <a:t>DAX</a:t>
            </a:r>
          </a:p>
        </p:txBody>
      </p:sp>
      <p:sp>
        <p:nvSpPr>
          <p:cNvPr id="26" name="TextBox 25"/>
          <p:cNvSpPr txBox="1"/>
          <p:nvPr/>
        </p:nvSpPr>
        <p:spPr>
          <a:xfrm>
            <a:off x="4315968" y="4270248"/>
            <a:ext cx="2862072" cy="987552"/>
          </a:xfrm>
          <a:prstGeom prst="rect">
            <a:avLst/>
          </a:prstGeom>
          <a:noFill/>
        </p:spPr>
        <p:txBody>
          <a:bodyPr wrap="square" lIns="36576" rIns="36576" tIns="36576" bIns="36576" anchor="t">
            <a:spAutoFit/>
          </a:bodyPr>
          <a:lstStyle/>
          <a:p>
            <a:pPr algn="l"/>
            <a:r>
              <a:rPr sz="1250" b="0" i="0">
                <a:solidFill>
                  <a:srgbClr val="CFD9E8"/>
                </a:solidFill>
                <a:latin typeface="Aptos"/>
              </a:rPr>
              <a:t>KPI calculations &amp; analytical measures</a:t>
            </a:r>
          </a:p>
        </p:txBody>
      </p:sp>
      <p:sp>
        <p:nvSpPr>
          <p:cNvPr id="27" name="Rounded Rectangle 26"/>
          <p:cNvSpPr/>
          <p:nvPr/>
        </p:nvSpPr>
        <p:spPr>
          <a:xfrm>
            <a:off x="7571231" y="3749039"/>
            <a:ext cx="3182112" cy="1645920"/>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571231" y="3749039"/>
            <a:ext cx="68580" cy="1645920"/>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0" y="3895344"/>
            <a:ext cx="2862072" cy="310896"/>
          </a:xfrm>
          <a:prstGeom prst="rect">
            <a:avLst/>
          </a:prstGeom>
          <a:noFill/>
        </p:spPr>
        <p:txBody>
          <a:bodyPr wrap="square" lIns="36576" rIns="36576" tIns="36576" bIns="36576" anchor="t">
            <a:spAutoFit/>
          </a:bodyPr>
          <a:lstStyle/>
          <a:p>
            <a:pPr algn="l"/>
            <a:r>
              <a:rPr sz="1500" b="1" i="0">
                <a:solidFill>
                  <a:srgbClr val="FFFFFF"/>
                </a:solidFill>
                <a:latin typeface="Aptos"/>
              </a:rPr>
              <a:t>GitHub</a:t>
            </a:r>
          </a:p>
        </p:txBody>
      </p:sp>
      <p:sp>
        <p:nvSpPr>
          <p:cNvPr id="30" name="TextBox 29"/>
          <p:cNvSpPr txBox="1"/>
          <p:nvPr/>
        </p:nvSpPr>
        <p:spPr>
          <a:xfrm>
            <a:off x="7772400" y="4270248"/>
            <a:ext cx="2862072" cy="987552"/>
          </a:xfrm>
          <a:prstGeom prst="rect">
            <a:avLst/>
          </a:prstGeom>
          <a:noFill/>
        </p:spPr>
        <p:txBody>
          <a:bodyPr wrap="square" lIns="36576" rIns="36576" tIns="36576" bIns="36576" anchor="t">
            <a:spAutoFit/>
          </a:bodyPr>
          <a:lstStyle/>
          <a:p>
            <a:pPr algn="l"/>
            <a:r>
              <a:rPr sz="1250" b="0" i="0">
                <a:solidFill>
                  <a:srgbClr val="CFD9E8"/>
                </a:solidFill>
                <a:latin typeface="Aptos"/>
              </a:rPr>
              <a:t>Version control &amp; project documentation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F45"/>
        </a:solidFill>
        <a:effectLst/>
      </p:bgPr>
    </p:bg>
    <p:spTree>
      <p:nvGrpSpPr>
        <p:cNvPr id="1" name=""/>
        <p:cNvGrpSpPr/>
        <p:nvPr/>
      </p:nvGrpSpPr>
      <p:grpSpPr/>
      <p:sp>
        <p:nvSpPr>
          <p:cNvPr id="2" name="TextBox 1"/>
          <p:cNvSpPr txBox="1"/>
          <p:nvPr/>
        </p:nvSpPr>
        <p:spPr>
          <a:xfrm>
            <a:off x="658368" y="347472"/>
            <a:ext cx="2926080" cy="274320"/>
          </a:xfrm>
          <a:prstGeom prst="rect">
            <a:avLst/>
          </a:prstGeom>
          <a:noFill/>
        </p:spPr>
        <p:txBody>
          <a:bodyPr wrap="square" lIns="36576" rIns="36576" tIns="36576" bIns="36576" anchor="t">
            <a:spAutoFit/>
          </a:bodyPr>
          <a:lstStyle/>
          <a:p>
            <a:pPr algn="l"/>
            <a:r>
              <a:rPr sz="1100" b="1" i="0">
                <a:solidFill>
                  <a:srgbClr val="FFC220"/>
                </a:solidFill>
                <a:latin typeface="Aptos"/>
              </a:rPr>
              <a:t>DATA FOUNDATION</a:t>
            </a:r>
          </a:p>
        </p:txBody>
      </p:sp>
      <p:sp>
        <p:nvSpPr>
          <p:cNvPr id="3" name="TextBox 2"/>
          <p:cNvSpPr txBox="1"/>
          <p:nvPr/>
        </p:nvSpPr>
        <p:spPr>
          <a:xfrm>
            <a:off x="658368" y="685800"/>
            <a:ext cx="8138160" cy="530352"/>
          </a:xfrm>
          <a:prstGeom prst="rect">
            <a:avLst/>
          </a:prstGeom>
          <a:noFill/>
        </p:spPr>
        <p:txBody>
          <a:bodyPr wrap="square" lIns="36576" rIns="36576" tIns="36576" bIns="36576" anchor="t">
            <a:spAutoFit/>
          </a:bodyPr>
          <a:lstStyle/>
          <a:p>
            <a:pPr algn="l"/>
            <a:r>
              <a:rPr sz="2500" b="1" i="0">
                <a:solidFill>
                  <a:srgbClr val="FFFFFF"/>
                </a:solidFill>
                <a:latin typeface="Aptos"/>
              </a:rPr>
              <a:t>Dataset Introduction &amp; Source</a:t>
            </a:r>
          </a:p>
        </p:txBody>
      </p:sp>
      <p:sp>
        <p:nvSpPr>
          <p:cNvPr id="4" name="Rectangle 3"/>
          <p:cNvSpPr/>
          <p:nvPr/>
        </p:nvSpPr>
        <p:spPr>
          <a:xfrm>
            <a:off x="658368" y="1307592"/>
            <a:ext cx="1051560" cy="5029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73952"/>
            <a:ext cx="6858000" cy="201168"/>
          </a:xfrm>
          <a:prstGeom prst="rect">
            <a:avLst/>
          </a:prstGeom>
          <a:noFill/>
        </p:spPr>
        <p:txBody>
          <a:bodyPr wrap="square" lIns="36576" rIns="36576" tIns="36576" bIns="36576" anchor="t">
            <a:spAutoFit/>
          </a:bodyPr>
          <a:lstStyle/>
          <a:p>
            <a:pPr algn="l"/>
            <a:r>
              <a:rPr sz="850" b="0" i="0">
                <a:solidFill>
                  <a:srgbClr val="CFD9E8"/>
                </a:solidFill>
                <a:latin typeface="Aptos"/>
              </a:rPr>
              <a:t>Walmart Supply Chain Analytics Dashboard</a:t>
            </a:r>
          </a:p>
        </p:txBody>
      </p:sp>
      <p:sp>
        <p:nvSpPr>
          <p:cNvPr id="6" name="TextBox 5"/>
          <p:cNvSpPr txBox="1"/>
          <p:nvPr/>
        </p:nvSpPr>
        <p:spPr>
          <a:xfrm>
            <a:off x="11018520" y="6446520"/>
            <a:ext cx="502920" cy="228600"/>
          </a:xfrm>
          <a:prstGeom prst="rect">
            <a:avLst/>
          </a:prstGeom>
          <a:noFill/>
        </p:spPr>
        <p:txBody>
          <a:bodyPr wrap="square" lIns="36576" rIns="36576" tIns="36576" bIns="36576" anchor="t">
            <a:spAutoFit/>
          </a:bodyPr>
          <a:lstStyle/>
          <a:p>
            <a:pPr algn="r"/>
            <a:r>
              <a:rPr sz="900" b="0" i="0">
                <a:solidFill>
                  <a:srgbClr val="CFD9E8"/>
                </a:solidFill>
                <a:latin typeface="Aptos"/>
              </a:rPr>
              <a:t>4</a:t>
            </a:r>
          </a:p>
        </p:txBody>
      </p:sp>
      <p:sp>
        <p:nvSpPr>
          <p:cNvPr id="7" name="TextBox 6"/>
          <p:cNvSpPr txBox="1"/>
          <p:nvPr/>
        </p:nvSpPr>
        <p:spPr>
          <a:xfrm>
            <a:off x="658368" y="1572768"/>
            <a:ext cx="6858000" cy="320040"/>
          </a:xfrm>
          <a:prstGeom prst="rect">
            <a:avLst/>
          </a:prstGeom>
          <a:noFill/>
        </p:spPr>
        <p:txBody>
          <a:bodyPr wrap="square" lIns="36576" rIns="36576" tIns="36576" bIns="36576" anchor="t">
            <a:spAutoFit/>
          </a:bodyPr>
          <a:lstStyle/>
          <a:p>
            <a:pPr algn="l"/>
            <a:r>
              <a:rPr sz="1400" b="1" i="0">
                <a:solidFill>
                  <a:srgbClr val="CFD9E8"/>
                </a:solidFill>
                <a:latin typeface="Aptos"/>
              </a:rPr>
              <a:t>Structured Walmart supply chain dataset • 7 relational tables</a:t>
            </a:r>
          </a:p>
        </p:txBody>
      </p:sp>
      <p:sp>
        <p:nvSpPr>
          <p:cNvPr id="8" name="Rounded Rectangle 7"/>
          <p:cNvSpPr/>
          <p:nvPr/>
        </p:nvSpPr>
        <p:spPr>
          <a:xfrm>
            <a:off x="658368" y="2057400"/>
            <a:ext cx="2542032" cy="658368"/>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057400"/>
            <a:ext cx="68580" cy="6583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203704"/>
            <a:ext cx="2221991" cy="310896"/>
          </a:xfrm>
          <a:prstGeom prst="rect">
            <a:avLst/>
          </a:prstGeom>
          <a:noFill/>
        </p:spPr>
        <p:txBody>
          <a:bodyPr wrap="square" lIns="36576" rIns="36576" tIns="36576" bIns="36576" anchor="t">
            <a:spAutoFit/>
          </a:bodyPr>
          <a:lstStyle/>
          <a:p>
            <a:pPr algn="l"/>
            <a:r>
              <a:rPr sz="1500" b="1" i="0">
                <a:solidFill>
                  <a:srgbClr val="FFFFFF"/>
                </a:solidFill>
                <a:latin typeface="Aptos"/>
              </a:rPr>
              <a:t>inventory</a:t>
            </a:r>
          </a:p>
        </p:txBody>
      </p:sp>
      <p:sp>
        <p:nvSpPr>
          <p:cNvPr id="11" name="TextBox 10"/>
          <p:cNvSpPr txBox="1"/>
          <p:nvPr/>
        </p:nvSpPr>
        <p:spPr>
          <a:xfrm>
            <a:off x="859536" y="2578608"/>
            <a:ext cx="2221991" cy="0"/>
          </a:xfrm>
          <a:prstGeom prst="rect">
            <a:avLst/>
          </a:prstGeom>
          <a:noFill/>
        </p:spPr>
        <p:txBody>
          <a:bodyPr wrap="square" lIns="36576" rIns="36576" tIns="36576" bIns="36576" anchor="t">
            <a:spAutoFit/>
          </a:bodyPr>
          <a:lstStyle/>
          <a:p>
            <a:pPr algn="l"/>
            <a:r>
              <a:rPr sz="1000" b="0" i="0">
                <a:solidFill>
                  <a:srgbClr val="CFD9E8"/>
                </a:solidFill>
                <a:latin typeface="Aptos"/>
              </a:rPr>
              <a:t/>
            </a:r>
          </a:p>
        </p:txBody>
      </p:sp>
      <p:sp>
        <p:nvSpPr>
          <p:cNvPr id="12" name="Rounded Rectangle 11"/>
          <p:cNvSpPr/>
          <p:nvPr/>
        </p:nvSpPr>
        <p:spPr>
          <a:xfrm>
            <a:off x="3493008" y="2057400"/>
            <a:ext cx="2542032" cy="658368"/>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93008" y="2057400"/>
            <a:ext cx="68580" cy="658368"/>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94176" y="2203704"/>
            <a:ext cx="2221991" cy="310896"/>
          </a:xfrm>
          <a:prstGeom prst="rect">
            <a:avLst/>
          </a:prstGeom>
          <a:noFill/>
        </p:spPr>
        <p:txBody>
          <a:bodyPr wrap="square" lIns="36576" rIns="36576" tIns="36576" bIns="36576" anchor="t">
            <a:spAutoFit/>
          </a:bodyPr>
          <a:lstStyle/>
          <a:p>
            <a:pPr algn="l"/>
            <a:r>
              <a:rPr sz="1500" b="1" i="0">
                <a:solidFill>
                  <a:srgbClr val="FFFFFF"/>
                </a:solidFill>
                <a:latin typeface="Aptos"/>
              </a:rPr>
              <a:t>orders</a:t>
            </a:r>
          </a:p>
        </p:txBody>
      </p:sp>
      <p:sp>
        <p:nvSpPr>
          <p:cNvPr id="15" name="TextBox 14"/>
          <p:cNvSpPr txBox="1"/>
          <p:nvPr/>
        </p:nvSpPr>
        <p:spPr>
          <a:xfrm>
            <a:off x="3694176" y="2578608"/>
            <a:ext cx="2221991" cy="0"/>
          </a:xfrm>
          <a:prstGeom prst="rect">
            <a:avLst/>
          </a:prstGeom>
          <a:noFill/>
        </p:spPr>
        <p:txBody>
          <a:bodyPr wrap="square" lIns="36576" rIns="36576" tIns="36576" bIns="36576" anchor="t">
            <a:spAutoFit/>
          </a:bodyPr>
          <a:lstStyle/>
          <a:p>
            <a:pPr algn="l"/>
            <a:r>
              <a:rPr sz="1000" b="0" i="0">
                <a:solidFill>
                  <a:srgbClr val="CFD9E8"/>
                </a:solidFill>
                <a:latin typeface="Aptos"/>
              </a:rPr>
              <a:t/>
            </a:r>
          </a:p>
        </p:txBody>
      </p:sp>
      <p:sp>
        <p:nvSpPr>
          <p:cNvPr id="16" name="Rounded Rectangle 15"/>
          <p:cNvSpPr/>
          <p:nvPr/>
        </p:nvSpPr>
        <p:spPr>
          <a:xfrm>
            <a:off x="658368" y="2898648"/>
            <a:ext cx="2542032" cy="658368"/>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2898648"/>
            <a:ext cx="68580" cy="6583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 y="3044952"/>
            <a:ext cx="2221991" cy="310896"/>
          </a:xfrm>
          <a:prstGeom prst="rect">
            <a:avLst/>
          </a:prstGeom>
          <a:noFill/>
        </p:spPr>
        <p:txBody>
          <a:bodyPr wrap="square" lIns="36576" rIns="36576" tIns="36576" bIns="36576" anchor="t">
            <a:spAutoFit/>
          </a:bodyPr>
          <a:lstStyle/>
          <a:p>
            <a:pPr algn="l"/>
            <a:r>
              <a:rPr sz="1500" b="1" i="0">
                <a:solidFill>
                  <a:srgbClr val="FFFFFF"/>
                </a:solidFill>
                <a:latin typeface="Aptos"/>
              </a:rPr>
              <a:t>products</a:t>
            </a:r>
          </a:p>
        </p:txBody>
      </p:sp>
      <p:sp>
        <p:nvSpPr>
          <p:cNvPr id="19" name="TextBox 18"/>
          <p:cNvSpPr txBox="1"/>
          <p:nvPr/>
        </p:nvSpPr>
        <p:spPr>
          <a:xfrm>
            <a:off x="859536" y="3419856"/>
            <a:ext cx="2221991" cy="0"/>
          </a:xfrm>
          <a:prstGeom prst="rect">
            <a:avLst/>
          </a:prstGeom>
          <a:noFill/>
        </p:spPr>
        <p:txBody>
          <a:bodyPr wrap="square" lIns="36576" rIns="36576" tIns="36576" bIns="36576" anchor="t">
            <a:spAutoFit/>
          </a:bodyPr>
          <a:lstStyle/>
          <a:p>
            <a:pPr algn="l"/>
            <a:r>
              <a:rPr sz="1000" b="0" i="0">
                <a:solidFill>
                  <a:srgbClr val="CFD9E8"/>
                </a:solidFill>
                <a:latin typeface="Aptos"/>
              </a:rPr>
              <a:t/>
            </a:r>
          </a:p>
        </p:txBody>
      </p:sp>
      <p:sp>
        <p:nvSpPr>
          <p:cNvPr id="20" name="Rounded Rectangle 19"/>
          <p:cNvSpPr/>
          <p:nvPr/>
        </p:nvSpPr>
        <p:spPr>
          <a:xfrm>
            <a:off x="3493008" y="2898648"/>
            <a:ext cx="2542032" cy="658368"/>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93008" y="2898648"/>
            <a:ext cx="68580" cy="658368"/>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94176" y="3044952"/>
            <a:ext cx="2221991" cy="310896"/>
          </a:xfrm>
          <a:prstGeom prst="rect">
            <a:avLst/>
          </a:prstGeom>
          <a:noFill/>
        </p:spPr>
        <p:txBody>
          <a:bodyPr wrap="square" lIns="36576" rIns="36576" tIns="36576" bIns="36576" anchor="t">
            <a:spAutoFit/>
          </a:bodyPr>
          <a:lstStyle/>
          <a:p>
            <a:pPr algn="l"/>
            <a:r>
              <a:rPr sz="1500" b="1" i="0">
                <a:solidFill>
                  <a:srgbClr val="FFFFFF"/>
                </a:solidFill>
                <a:latin typeface="Aptos"/>
              </a:rPr>
              <a:t>shipments</a:t>
            </a:r>
          </a:p>
        </p:txBody>
      </p:sp>
      <p:sp>
        <p:nvSpPr>
          <p:cNvPr id="23" name="TextBox 22"/>
          <p:cNvSpPr txBox="1"/>
          <p:nvPr/>
        </p:nvSpPr>
        <p:spPr>
          <a:xfrm>
            <a:off x="3694176" y="3419856"/>
            <a:ext cx="2221991" cy="0"/>
          </a:xfrm>
          <a:prstGeom prst="rect">
            <a:avLst/>
          </a:prstGeom>
          <a:noFill/>
        </p:spPr>
        <p:txBody>
          <a:bodyPr wrap="square" lIns="36576" rIns="36576" tIns="36576" bIns="36576" anchor="t">
            <a:spAutoFit/>
          </a:bodyPr>
          <a:lstStyle/>
          <a:p>
            <a:pPr algn="l"/>
            <a:r>
              <a:rPr sz="1000" b="0" i="0">
                <a:solidFill>
                  <a:srgbClr val="CFD9E8"/>
                </a:solidFill>
                <a:latin typeface="Aptos"/>
              </a:rPr>
              <a:t/>
            </a:r>
          </a:p>
        </p:txBody>
      </p:sp>
      <p:sp>
        <p:nvSpPr>
          <p:cNvPr id="24" name="Rounded Rectangle 23"/>
          <p:cNvSpPr/>
          <p:nvPr/>
        </p:nvSpPr>
        <p:spPr>
          <a:xfrm>
            <a:off x="658368" y="3739896"/>
            <a:ext cx="2542032" cy="658368"/>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739896"/>
            <a:ext cx="68580" cy="6583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3886200"/>
            <a:ext cx="2221991" cy="310896"/>
          </a:xfrm>
          <a:prstGeom prst="rect">
            <a:avLst/>
          </a:prstGeom>
          <a:noFill/>
        </p:spPr>
        <p:txBody>
          <a:bodyPr wrap="square" lIns="36576" rIns="36576" tIns="36576" bIns="36576" anchor="t">
            <a:spAutoFit/>
          </a:bodyPr>
          <a:lstStyle/>
          <a:p>
            <a:pPr algn="l"/>
            <a:r>
              <a:rPr sz="1500" b="1" i="0">
                <a:solidFill>
                  <a:srgbClr val="FFFFFF"/>
                </a:solidFill>
                <a:latin typeface="Aptos"/>
              </a:rPr>
              <a:t>stores</a:t>
            </a:r>
          </a:p>
        </p:txBody>
      </p:sp>
      <p:sp>
        <p:nvSpPr>
          <p:cNvPr id="27" name="TextBox 26"/>
          <p:cNvSpPr txBox="1"/>
          <p:nvPr/>
        </p:nvSpPr>
        <p:spPr>
          <a:xfrm>
            <a:off x="859536" y="4261104"/>
            <a:ext cx="2221991" cy="0"/>
          </a:xfrm>
          <a:prstGeom prst="rect">
            <a:avLst/>
          </a:prstGeom>
          <a:noFill/>
        </p:spPr>
        <p:txBody>
          <a:bodyPr wrap="square" lIns="36576" rIns="36576" tIns="36576" bIns="36576" anchor="t">
            <a:spAutoFit/>
          </a:bodyPr>
          <a:lstStyle/>
          <a:p>
            <a:pPr algn="l"/>
            <a:r>
              <a:rPr sz="1000" b="0" i="0">
                <a:solidFill>
                  <a:srgbClr val="CFD9E8"/>
                </a:solidFill>
                <a:latin typeface="Aptos"/>
              </a:rPr>
              <a:t/>
            </a:r>
          </a:p>
        </p:txBody>
      </p:sp>
      <p:sp>
        <p:nvSpPr>
          <p:cNvPr id="28" name="Rounded Rectangle 27"/>
          <p:cNvSpPr/>
          <p:nvPr/>
        </p:nvSpPr>
        <p:spPr>
          <a:xfrm>
            <a:off x="3493008" y="3739896"/>
            <a:ext cx="2542032" cy="658368"/>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493008" y="3739896"/>
            <a:ext cx="68580" cy="658368"/>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94176" y="3886200"/>
            <a:ext cx="2221991" cy="310896"/>
          </a:xfrm>
          <a:prstGeom prst="rect">
            <a:avLst/>
          </a:prstGeom>
          <a:noFill/>
        </p:spPr>
        <p:txBody>
          <a:bodyPr wrap="square" lIns="36576" rIns="36576" tIns="36576" bIns="36576" anchor="t">
            <a:spAutoFit/>
          </a:bodyPr>
          <a:lstStyle/>
          <a:p>
            <a:pPr algn="l"/>
            <a:r>
              <a:rPr sz="1500" b="1" i="0">
                <a:solidFill>
                  <a:srgbClr val="FFFFFF"/>
                </a:solidFill>
                <a:latin typeface="Aptos"/>
              </a:rPr>
              <a:t>suppliers</a:t>
            </a:r>
          </a:p>
        </p:txBody>
      </p:sp>
      <p:sp>
        <p:nvSpPr>
          <p:cNvPr id="31" name="TextBox 30"/>
          <p:cNvSpPr txBox="1"/>
          <p:nvPr/>
        </p:nvSpPr>
        <p:spPr>
          <a:xfrm>
            <a:off x="3694176" y="4261104"/>
            <a:ext cx="2221991" cy="0"/>
          </a:xfrm>
          <a:prstGeom prst="rect">
            <a:avLst/>
          </a:prstGeom>
          <a:noFill/>
        </p:spPr>
        <p:txBody>
          <a:bodyPr wrap="square" lIns="36576" rIns="36576" tIns="36576" bIns="36576" anchor="t">
            <a:spAutoFit/>
          </a:bodyPr>
          <a:lstStyle/>
          <a:p>
            <a:pPr algn="l"/>
            <a:r>
              <a:rPr sz="1000" b="0" i="0">
                <a:solidFill>
                  <a:srgbClr val="CFD9E8"/>
                </a:solidFill>
                <a:latin typeface="Aptos"/>
              </a:rPr>
              <a:t/>
            </a:r>
          </a:p>
        </p:txBody>
      </p:sp>
      <p:sp>
        <p:nvSpPr>
          <p:cNvPr id="32" name="Rounded Rectangle 31"/>
          <p:cNvSpPr/>
          <p:nvPr/>
        </p:nvSpPr>
        <p:spPr>
          <a:xfrm>
            <a:off x="658368" y="4581144"/>
            <a:ext cx="2542032" cy="658368"/>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58368" y="4581144"/>
            <a:ext cx="68580" cy="6583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9536" y="4727448"/>
            <a:ext cx="2221991" cy="310896"/>
          </a:xfrm>
          <a:prstGeom prst="rect">
            <a:avLst/>
          </a:prstGeom>
          <a:noFill/>
        </p:spPr>
        <p:txBody>
          <a:bodyPr wrap="square" lIns="36576" rIns="36576" tIns="36576" bIns="36576" anchor="t">
            <a:spAutoFit/>
          </a:bodyPr>
          <a:lstStyle/>
          <a:p>
            <a:pPr algn="l"/>
            <a:r>
              <a:rPr sz="1500" b="1" i="0">
                <a:solidFill>
                  <a:srgbClr val="FFFFFF"/>
                </a:solidFill>
                <a:latin typeface="Aptos"/>
              </a:rPr>
              <a:t>warehouse</a:t>
            </a:r>
          </a:p>
        </p:txBody>
      </p:sp>
      <p:sp>
        <p:nvSpPr>
          <p:cNvPr id="35" name="TextBox 34"/>
          <p:cNvSpPr txBox="1"/>
          <p:nvPr/>
        </p:nvSpPr>
        <p:spPr>
          <a:xfrm>
            <a:off x="859536" y="5102352"/>
            <a:ext cx="2221991" cy="0"/>
          </a:xfrm>
          <a:prstGeom prst="rect">
            <a:avLst/>
          </a:prstGeom>
          <a:noFill/>
        </p:spPr>
        <p:txBody>
          <a:bodyPr wrap="square" lIns="36576" rIns="36576" tIns="36576" bIns="36576" anchor="t">
            <a:spAutoFit/>
          </a:bodyPr>
          <a:lstStyle/>
          <a:p>
            <a:pPr algn="l"/>
            <a:r>
              <a:rPr sz="1000" b="0" i="0">
                <a:solidFill>
                  <a:srgbClr val="CFD9E8"/>
                </a:solidFill>
                <a:latin typeface="Aptos"/>
              </a:rPr>
              <a:t/>
            </a:r>
          </a:p>
        </p:txBody>
      </p:sp>
      <p:sp>
        <p:nvSpPr>
          <p:cNvPr id="36" name="Rounded Rectangle 35"/>
          <p:cNvSpPr/>
          <p:nvPr/>
        </p:nvSpPr>
        <p:spPr>
          <a:xfrm>
            <a:off x="6629400" y="1627632"/>
            <a:ext cx="4892040" cy="4343400"/>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629400" y="1627632"/>
            <a:ext cx="68580" cy="43434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30568" y="1773936"/>
            <a:ext cx="4572000" cy="310896"/>
          </a:xfrm>
          <a:prstGeom prst="rect">
            <a:avLst/>
          </a:prstGeom>
          <a:noFill/>
        </p:spPr>
        <p:txBody>
          <a:bodyPr wrap="square" lIns="36576" rIns="36576" tIns="36576" bIns="36576" anchor="t">
            <a:spAutoFit/>
          </a:bodyPr>
          <a:lstStyle/>
          <a:p>
            <a:pPr algn="l"/>
            <a:r>
              <a:rPr sz="1500" b="1" i="0">
                <a:solidFill>
                  <a:srgbClr val="FFFFFF"/>
                </a:solidFill>
                <a:latin typeface="Aptos"/>
              </a:rPr>
              <a:t>Key Data Areas</a:t>
            </a:r>
          </a:p>
        </p:txBody>
      </p:sp>
      <p:sp>
        <p:nvSpPr>
          <p:cNvPr id="39" name="TextBox 38"/>
          <p:cNvSpPr txBox="1"/>
          <p:nvPr/>
        </p:nvSpPr>
        <p:spPr>
          <a:xfrm>
            <a:off x="6830568" y="2148840"/>
            <a:ext cx="4572000" cy="3685032"/>
          </a:xfrm>
          <a:prstGeom prst="rect">
            <a:avLst/>
          </a:prstGeom>
          <a:noFill/>
        </p:spPr>
        <p:txBody>
          <a:bodyPr wrap="square" lIns="36576" rIns="36576" tIns="36576" bIns="36576" anchor="t">
            <a:spAutoFit/>
          </a:bodyPr>
          <a:lstStyle/>
          <a:p>
            <a:pPr algn="l"/>
            <a:r>
              <a:rPr sz="1400" b="0" i="0">
                <a:solidFill>
                  <a:srgbClr val="CFD9E8"/>
                </a:solidFill>
                <a:latin typeface="Aptos"/>
              </a:rPr>
              <a:t>Sales &amp; orders
Inventory &amp; stock quantities
Shipment status and delivery performance
Stores and regional activity
Supplier and warehouse information</a:t>
            </a:r>
          </a:p>
        </p:txBody>
      </p:sp>
      <p:sp>
        <p:nvSpPr>
          <p:cNvPr id="40" name="TextBox 39"/>
          <p:cNvSpPr txBox="1"/>
          <p:nvPr/>
        </p:nvSpPr>
        <p:spPr>
          <a:xfrm>
            <a:off x="658368" y="5440680"/>
            <a:ext cx="5486400" cy="566928"/>
          </a:xfrm>
          <a:prstGeom prst="rect">
            <a:avLst/>
          </a:prstGeom>
          <a:noFill/>
        </p:spPr>
        <p:txBody>
          <a:bodyPr wrap="square" lIns="36576" rIns="36576" tIns="36576" bIns="36576" anchor="t">
            <a:spAutoFit/>
          </a:bodyPr>
          <a:lstStyle/>
          <a:p>
            <a:pPr algn="l"/>
            <a:r>
              <a:rPr sz="1250" b="0" i="0">
                <a:solidFill>
                  <a:srgbClr val="CFD9E8"/>
                </a:solidFill>
                <a:latin typeface="Aptos"/>
              </a:rPr>
              <a:t>Dataset scope supports end-to-end supply chain analysis from orders and inventory to shipment and supplier performance.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F45"/>
        </a:solidFill>
        <a:effectLst/>
      </p:bgPr>
    </p:bg>
    <p:spTree>
      <p:nvGrpSpPr>
        <p:cNvPr id="1" name=""/>
        <p:cNvGrpSpPr/>
        <p:nvPr/>
      </p:nvGrpSpPr>
      <p:grpSpPr/>
      <p:sp>
        <p:nvSpPr>
          <p:cNvPr id="2" name="TextBox 1"/>
          <p:cNvSpPr txBox="1"/>
          <p:nvPr/>
        </p:nvSpPr>
        <p:spPr>
          <a:xfrm>
            <a:off x="658368" y="347472"/>
            <a:ext cx="2926080" cy="274320"/>
          </a:xfrm>
          <a:prstGeom prst="rect">
            <a:avLst/>
          </a:prstGeom>
          <a:noFill/>
        </p:spPr>
        <p:txBody>
          <a:bodyPr wrap="square" lIns="36576" rIns="36576" tIns="36576" bIns="36576" anchor="t">
            <a:spAutoFit/>
          </a:bodyPr>
          <a:lstStyle/>
          <a:p>
            <a:pPr algn="l"/>
            <a:r>
              <a:rPr sz="1100" b="1" i="0">
                <a:solidFill>
                  <a:srgbClr val="FFC220"/>
                </a:solidFill>
                <a:latin typeface="Aptos"/>
              </a:rPr>
              <a:t>DATABASE LAYER</a:t>
            </a:r>
          </a:p>
        </p:txBody>
      </p:sp>
      <p:sp>
        <p:nvSpPr>
          <p:cNvPr id="3" name="TextBox 2"/>
          <p:cNvSpPr txBox="1"/>
          <p:nvPr/>
        </p:nvSpPr>
        <p:spPr>
          <a:xfrm>
            <a:off x="658368" y="685800"/>
            <a:ext cx="8138160" cy="530352"/>
          </a:xfrm>
          <a:prstGeom prst="rect">
            <a:avLst/>
          </a:prstGeom>
          <a:noFill/>
        </p:spPr>
        <p:txBody>
          <a:bodyPr wrap="square" lIns="36576" rIns="36576" tIns="36576" bIns="36576" anchor="t">
            <a:spAutoFit/>
          </a:bodyPr>
          <a:lstStyle/>
          <a:p>
            <a:pPr algn="l"/>
            <a:r>
              <a:rPr sz="2500" b="1" i="0">
                <a:solidFill>
                  <a:srgbClr val="FFFFFF"/>
                </a:solidFill>
                <a:latin typeface="Aptos"/>
              </a:rPr>
              <a:t>MySQL Database &amp; Connecting to Power BI</a:t>
            </a:r>
          </a:p>
        </p:txBody>
      </p:sp>
      <p:sp>
        <p:nvSpPr>
          <p:cNvPr id="4" name="Rectangle 3"/>
          <p:cNvSpPr/>
          <p:nvPr/>
        </p:nvSpPr>
        <p:spPr>
          <a:xfrm>
            <a:off x="658368" y="1307592"/>
            <a:ext cx="1051560" cy="5029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73952"/>
            <a:ext cx="6858000" cy="201168"/>
          </a:xfrm>
          <a:prstGeom prst="rect">
            <a:avLst/>
          </a:prstGeom>
          <a:noFill/>
        </p:spPr>
        <p:txBody>
          <a:bodyPr wrap="square" lIns="36576" rIns="36576" tIns="36576" bIns="36576" anchor="t">
            <a:spAutoFit/>
          </a:bodyPr>
          <a:lstStyle/>
          <a:p>
            <a:pPr algn="l"/>
            <a:r>
              <a:rPr sz="850" b="0" i="0">
                <a:solidFill>
                  <a:srgbClr val="CFD9E8"/>
                </a:solidFill>
                <a:latin typeface="Aptos"/>
              </a:rPr>
              <a:t>Walmart Supply Chain Analytics Dashboard</a:t>
            </a:r>
          </a:p>
        </p:txBody>
      </p:sp>
      <p:sp>
        <p:nvSpPr>
          <p:cNvPr id="6" name="TextBox 5"/>
          <p:cNvSpPr txBox="1"/>
          <p:nvPr/>
        </p:nvSpPr>
        <p:spPr>
          <a:xfrm>
            <a:off x="11018520" y="6446520"/>
            <a:ext cx="502920" cy="228600"/>
          </a:xfrm>
          <a:prstGeom prst="rect">
            <a:avLst/>
          </a:prstGeom>
          <a:noFill/>
        </p:spPr>
        <p:txBody>
          <a:bodyPr wrap="square" lIns="36576" rIns="36576" tIns="36576" bIns="36576" anchor="t">
            <a:spAutoFit/>
          </a:bodyPr>
          <a:lstStyle/>
          <a:p>
            <a:pPr algn="r"/>
            <a:r>
              <a:rPr sz="900" b="0" i="0">
                <a:solidFill>
                  <a:srgbClr val="CFD9E8"/>
                </a:solidFill>
                <a:latin typeface="Aptos"/>
              </a:rPr>
              <a:t>5</a:t>
            </a:r>
          </a:p>
        </p:txBody>
      </p:sp>
      <p:sp>
        <p:nvSpPr>
          <p:cNvPr id="7" name="Rounded Rectangle 6"/>
          <p:cNvSpPr/>
          <p:nvPr/>
        </p:nvSpPr>
        <p:spPr>
          <a:xfrm>
            <a:off x="658368" y="1627632"/>
            <a:ext cx="4892040" cy="4251960"/>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27632"/>
            <a:ext cx="68580" cy="4251960"/>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773936"/>
            <a:ext cx="4572000" cy="310896"/>
          </a:xfrm>
          <a:prstGeom prst="rect">
            <a:avLst/>
          </a:prstGeom>
          <a:noFill/>
        </p:spPr>
        <p:txBody>
          <a:bodyPr wrap="square" lIns="36576" rIns="36576" tIns="36576" bIns="36576" anchor="t">
            <a:spAutoFit/>
          </a:bodyPr>
          <a:lstStyle/>
          <a:p>
            <a:pPr algn="l"/>
            <a:r>
              <a:rPr sz="1500" b="1" i="0">
                <a:solidFill>
                  <a:srgbClr val="FFFFFF"/>
                </a:solidFill>
                <a:latin typeface="Aptos"/>
              </a:rPr>
              <a:t>Database</a:t>
            </a:r>
          </a:p>
        </p:txBody>
      </p:sp>
      <p:sp>
        <p:nvSpPr>
          <p:cNvPr id="10" name="TextBox 9"/>
          <p:cNvSpPr txBox="1"/>
          <p:nvPr/>
        </p:nvSpPr>
        <p:spPr>
          <a:xfrm>
            <a:off x="859536" y="2148840"/>
            <a:ext cx="4572000" cy="3593592"/>
          </a:xfrm>
          <a:prstGeom prst="rect">
            <a:avLst/>
          </a:prstGeom>
          <a:noFill/>
        </p:spPr>
        <p:txBody>
          <a:bodyPr wrap="square" lIns="36576" rIns="36576" tIns="36576" bIns="36576" anchor="t">
            <a:spAutoFit/>
          </a:bodyPr>
          <a:lstStyle/>
          <a:p>
            <a:pPr algn="l"/>
            <a:r>
              <a:rPr sz="1400" b="0" i="0">
                <a:solidFill>
                  <a:srgbClr val="CFD9E8"/>
                </a:solidFill>
                <a:latin typeface="Aptos"/>
              </a:rPr>
              <a:t>Database: WALMART_SUPPLY_CHAINDB
Main tables:
inventory
orders
products
shipments
stores
suppliers
warehouse</a:t>
            </a:r>
          </a:p>
        </p:txBody>
      </p:sp>
      <p:sp>
        <p:nvSpPr>
          <p:cNvPr id="11" name="TextBox 10"/>
          <p:cNvSpPr txBox="1"/>
          <p:nvPr/>
        </p:nvSpPr>
        <p:spPr>
          <a:xfrm>
            <a:off x="5925312" y="1664208"/>
            <a:ext cx="5303520" cy="384048"/>
          </a:xfrm>
          <a:prstGeom prst="rect">
            <a:avLst/>
          </a:prstGeom>
          <a:noFill/>
        </p:spPr>
        <p:txBody>
          <a:bodyPr wrap="square" lIns="36576" rIns="36576" tIns="36576" bIns="36576" anchor="t">
            <a:spAutoFit/>
          </a:bodyPr>
          <a:lstStyle/>
          <a:p>
            <a:pPr algn="l"/>
            <a:r>
              <a:rPr sz="1700" b="1" i="0">
                <a:solidFill>
                  <a:srgbClr val="FFFFFF"/>
                </a:solidFill>
                <a:latin typeface="Aptos"/>
              </a:rPr>
              <a:t>Connecting MySQL to Power BI</a:t>
            </a:r>
          </a:p>
        </p:txBody>
      </p:sp>
      <p:sp>
        <p:nvSpPr>
          <p:cNvPr id="12" name="Oval 11"/>
          <p:cNvSpPr/>
          <p:nvPr/>
        </p:nvSpPr>
        <p:spPr>
          <a:xfrm>
            <a:off x="5961888" y="2240280"/>
            <a:ext cx="384048" cy="384048"/>
          </a:xfrm>
          <a:prstGeom prst="ellipse">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61888" y="2258568"/>
            <a:ext cx="384048" cy="320040"/>
          </a:xfrm>
          <a:prstGeom prst="rect">
            <a:avLst/>
          </a:prstGeom>
          <a:noFill/>
        </p:spPr>
        <p:txBody>
          <a:bodyPr wrap="square" lIns="36576" rIns="36576" tIns="36576" bIns="36576" anchor="ctr">
            <a:spAutoFit/>
          </a:bodyPr>
          <a:lstStyle/>
          <a:p>
            <a:pPr algn="ctr"/>
            <a:r>
              <a:rPr sz="1050" b="1" i="0">
                <a:solidFill>
                  <a:srgbClr val="0F1F45"/>
                </a:solidFill>
                <a:latin typeface="Aptos"/>
              </a:rPr>
              <a:t>1</a:t>
            </a:r>
          </a:p>
        </p:txBody>
      </p:sp>
      <p:sp>
        <p:nvSpPr>
          <p:cNvPr id="14" name="TextBox 13"/>
          <p:cNvSpPr txBox="1"/>
          <p:nvPr/>
        </p:nvSpPr>
        <p:spPr>
          <a:xfrm>
            <a:off x="6446520" y="2231136"/>
            <a:ext cx="4709160" cy="457200"/>
          </a:xfrm>
          <a:prstGeom prst="rect">
            <a:avLst/>
          </a:prstGeom>
          <a:noFill/>
        </p:spPr>
        <p:txBody>
          <a:bodyPr wrap="square" lIns="36576" rIns="36576" tIns="36576" bIns="36576" anchor="t">
            <a:spAutoFit/>
          </a:bodyPr>
          <a:lstStyle/>
          <a:p>
            <a:pPr algn="l"/>
            <a:r>
              <a:rPr sz="1350" b="0" i="0">
                <a:solidFill>
                  <a:srgbClr val="FFFFFF"/>
                </a:solidFill>
                <a:latin typeface="Aptos"/>
              </a:rPr>
              <a:t>Open Power BI Desktop → Get Data → MySQL</a:t>
            </a:r>
          </a:p>
        </p:txBody>
      </p:sp>
      <p:sp>
        <p:nvSpPr>
          <p:cNvPr id="15" name="Oval 14"/>
          <p:cNvSpPr/>
          <p:nvPr/>
        </p:nvSpPr>
        <p:spPr>
          <a:xfrm>
            <a:off x="5961888" y="2898648"/>
            <a:ext cx="384048" cy="384048"/>
          </a:xfrm>
          <a:prstGeom prst="ellipse">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61888" y="2916936"/>
            <a:ext cx="384048" cy="320040"/>
          </a:xfrm>
          <a:prstGeom prst="rect">
            <a:avLst/>
          </a:prstGeom>
          <a:noFill/>
        </p:spPr>
        <p:txBody>
          <a:bodyPr wrap="square" lIns="36576" rIns="36576" tIns="36576" bIns="36576" anchor="ctr">
            <a:spAutoFit/>
          </a:bodyPr>
          <a:lstStyle/>
          <a:p>
            <a:pPr algn="ctr"/>
            <a:r>
              <a:rPr sz="1050" b="1" i="0">
                <a:solidFill>
                  <a:srgbClr val="0F1F45"/>
                </a:solidFill>
                <a:latin typeface="Aptos"/>
              </a:rPr>
              <a:t>2</a:t>
            </a:r>
          </a:p>
        </p:txBody>
      </p:sp>
      <p:sp>
        <p:nvSpPr>
          <p:cNvPr id="17" name="TextBox 16"/>
          <p:cNvSpPr txBox="1"/>
          <p:nvPr/>
        </p:nvSpPr>
        <p:spPr>
          <a:xfrm>
            <a:off x="6446520" y="2889504"/>
            <a:ext cx="4709160" cy="457200"/>
          </a:xfrm>
          <a:prstGeom prst="rect">
            <a:avLst/>
          </a:prstGeom>
          <a:noFill/>
        </p:spPr>
        <p:txBody>
          <a:bodyPr wrap="square" lIns="36576" rIns="36576" tIns="36576" bIns="36576" anchor="t">
            <a:spAutoFit/>
          </a:bodyPr>
          <a:lstStyle/>
          <a:p>
            <a:pPr algn="l"/>
            <a:r>
              <a:rPr sz="1350" b="0" i="0">
                <a:solidFill>
                  <a:srgbClr val="FFFFFF"/>
                </a:solidFill>
                <a:latin typeface="Aptos"/>
              </a:rPr>
              <a:t>Select the Walmart supply chain database</a:t>
            </a:r>
          </a:p>
        </p:txBody>
      </p:sp>
      <p:sp>
        <p:nvSpPr>
          <p:cNvPr id="18" name="Oval 17"/>
          <p:cNvSpPr/>
          <p:nvPr/>
        </p:nvSpPr>
        <p:spPr>
          <a:xfrm>
            <a:off x="5961888" y="3557016"/>
            <a:ext cx="384048" cy="384048"/>
          </a:xfrm>
          <a:prstGeom prst="ellipse">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61888" y="3575304"/>
            <a:ext cx="384048" cy="320040"/>
          </a:xfrm>
          <a:prstGeom prst="rect">
            <a:avLst/>
          </a:prstGeom>
          <a:noFill/>
        </p:spPr>
        <p:txBody>
          <a:bodyPr wrap="square" lIns="36576" rIns="36576" tIns="36576" bIns="36576" anchor="ctr">
            <a:spAutoFit/>
          </a:bodyPr>
          <a:lstStyle/>
          <a:p>
            <a:pPr algn="ctr"/>
            <a:r>
              <a:rPr sz="1050" b="1" i="0">
                <a:solidFill>
                  <a:srgbClr val="0F1F45"/>
                </a:solidFill>
                <a:latin typeface="Aptos"/>
              </a:rPr>
              <a:t>3</a:t>
            </a:r>
          </a:p>
        </p:txBody>
      </p:sp>
      <p:sp>
        <p:nvSpPr>
          <p:cNvPr id="20" name="TextBox 19"/>
          <p:cNvSpPr txBox="1"/>
          <p:nvPr/>
        </p:nvSpPr>
        <p:spPr>
          <a:xfrm>
            <a:off x="6446520" y="3547872"/>
            <a:ext cx="4709160" cy="457200"/>
          </a:xfrm>
          <a:prstGeom prst="rect">
            <a:avLst/>
          </a:prstGeom>
          <a:noFill/>
        </p:spPr>
        <p:txBody>
          <a:bodyPr wrap="square" lIns="36576" rIns="36576" tIns="36576" bIns="36576" anchor="t">
            <a:spAutoFit/>
          </a:bodyPr>
          <a:lstStyle/>
          <a:p>
            <a:pPr algn="l"/>
            <a:r>
              <a:rPr sz="1350" b="0" i="0">
                <a:solidFill>
                  <a:srgbClr val="FFFFFF"/>
                </a:solidFill>
                <a:latin typeface="Aptos"/>
              </a:rPr>
              <a:t>Authenticate and select the required tables</a:t>
            </a:r>
          </a:p>
        </p:txBody>
      </p:sp>
      <p:sp>
        <p:nvSpPr>
          <p:cNvPr id="21" name="Oval 20"/>
          <p:cNvSpPr/>
          <p:nvPr/>
        </p:nvSpPr>
        <p:spPr>
          <a:xfrm>
            <a:off x="5961888" y="4215384"/>
            <a:ext cx="384048" cy="384048"/>
          </a:xfrm>
          <a:prstGeom prst="ellipse">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1888" y="4233672"/>
            <a:ext cx="384048" cy="320040"/>
          </a:xfrm>
          <a:prstGeom prst="rect">
            <a:avLst/>
          </a:prstGeom>
          <a:noFill/>
        </p:spPr>
        <p:txBody>
          <a:bodyPr wrap="square" lIns="36576" rIns="36576" tIns="36576" bIns="36576" anchor="ctr">
            <a:spAutoFit/>
          </a:bodyPr>
          <a:lstStyle/>
          <a:p>
            <a:pPr algn="ctr"/>
            <a:r>
              <a:rPr sz="1050" b="1" i="0">
                <a:solidFill>
                  <a:srgbClr val="0F1F45"/>
                </a:solidFill>
                <a:latin typeface="Aptos"/>
              </a:rPr>
              <a:t>4</a:t>
            </a:r>
          </a:p>
        </p:txBody>
      </p:sp>
      <p:sp>
        <p:nvSpPr>
          <p:cNvPr id="23" name="TextBox 22"/>
          <p:cNvSpPr txBox="1"/>
          <p:nvPr/>
        </p:nvSpPr>
        <p:spPr>
          <a:xfrm>
            <a:off x="6446520" y="4206240"/>
            <a:ext cx="4709160" cy="457200"/>
          </a:xfrm>
          <a:prstGeom prst="rect">
            <a:avLst/>
          </a:prstGeom>
          <a:noFill/>
        </p:spPr>
        <p:txBody>
          <a:bodyPr wrap="square" lIns="36576" rIns="36576" tIns="36576" bIns="36576" anchor="t">
            <a:spAutoFit/>
          </a:bodyPr>
          <a:lstStyle/>
          <a:p>
            <a:pPr algn="l"/>
            <a:r>
              <a:rPr sz="1350" b="0" i="0">
                <a:solidFill>
                  <a:srgbClr val="FFFFFF"/>
                </a:solidFill>
                <a:latin typeface="Aptos"/>
              </a:rPr>
              <a:t>Load tables into the Power BI data model</a:t>
            </a:r>
          </a:p>
        </p:txBody>
      </p:sp>
      <p:sp>
        <p:nvSpPr>
          <p:cNvPr id="24" name="Oval 23"/>
          <p:cNvSpPr/>
          <p:nvPr/>
        </p:nvSpPr>
        <p:spPr>
          <a:xfrm>
            <a:off x="5961888" y="4873752"/>
            <a:ext cx="384048" cy="384048"/>
          </a:xfrm>
          <a:prstGeom prst="ellipse">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61888" y="4892040"/>
            <a:ext cx="384048" cy="320040"/>
          </a:xfrm>
          <a:prstGeom prst="rect">
            <a:avLst/>
          </a:prstGeom>
          <a:noFill/>
        </p:spPr>
        <p:txBody>
          <a:bodyPr wrap="square" lIns="36576" rIns="36576" tIns="36576" bIns="36576" anchor="ctr">
            <a:spAutoFit/>
          </a:bodyPr>
          <a:lstStyle/>
          <a:p>
            <a:pPr algn="ctr"/>
            <a:r>
              <a:rPr sz="1050" b="1" i="0">
                <a:solidFill>
                  <a:srgbClr val="0F1F45"/>
                </a:solidFill>
                <a:latin typeface="Aptos"/>
              </a:rPr>
              <a:t>5</a:t>
            </a:r>
          </a:p>
        </p:txBody>
      </p:sp>
      <p:sp>
        <p:nvSpPr>
          <p:cNvPr id="26" name="TextBox 25"/>
          <p:cNvSpPr txBox="1"/>
          <p:nvPr/>
        </p:nvSpPr>
        <p:spPr>
          <a:xfrm>
            <a:off x="6446520" y="4864608"/>
            <a:ext cx="4709160" cy="457200"/>
          </a:xfrm>
          <a:prstGeom prst="rect">
            <a:avLst/>
          </a:prstGeom>
          <a:noFill/>
        </p:spPr>
        <p:txBody>
          <a:bodyPr wrap="square" lIns="36576" rIns="36576" tIns="36576" bIns="36576" anchor="t">
            <a:spAutoFit/>
          </a:bodyPr>
          <a:lstStyle/>
          <a:p>
            <a:pPr algn="l"/>
            <a:r>
              <a:rPr sz="1350" b="0" i="0">
                <a:solidFill>
                  <a:srgbClr val="FFFFFF"/>
                </a:solidFill>
                <a:latin typeface="Aptos"/>
              </a:rPr>
              <a:t>Define relationships using relevant business keys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F45"/>
        </a:solidFill>
        <a:effectLst/>
      </p:bgPr>
    </p:bg>
    <p:spTree>
      <p:nvGrpSpPr>
        <p:cNvPr id="1" name=""/>
        <p:cNvGrpSpPr/>
        <p:nvPr/>
      </p:nvGrpSpPr>
      <p:grpSpPr/>
      <p:sp>
        <p:nvSpPr>
          <p:cNvPr id="2" name="TextBox 1"/>
          <p:cNvSpPr txBox="1"/>
          <p:nvPr/>
        </p:nvSpPr>
        <p:spPr>
          <a:xfrm>
            <a:off x="658368" y="347472"/>
            <a:ext cx="2926080" cy="274320"/>
          </a:xfrm>
          <a:prstGeom prst="rect">
            <a:avLst/>
          </a:prstGeom>
          <a:noFill/>
        </p:spPr>
        <p:txBody>
          <a:bodyPr wrap="square" lIns="36576" rIns="36576" tIns="36576" bIns="36576" anchor="t">
            <a:spAutoFit/>
          </a:bodyPr>
          <a:lstStyle/>
          <a:p>
            <a:pPr algn="l"/>
            <a:r>
              <a:rPr sz="1100" b="1" i="0">
                <a:solidFill>
                  <a:srgbClr val="FFC220"/>
                </a:solidFill>
                <a:latin typeface="Aptos"/>
              </a:rPr>
              <a:t>DATA PREPARATION</a:t>
            </a:r>
          </a:p>
        </p:txBody>
      </p:sp>
      <p:sp>
        <p:nvSpPr>
          <p:cNvPr id="3" name="TextBox 2"/>
          <p:cNvSpPr txBox="1"/>
          <p:nvPr/>
        </p:nvSpPr>
        <p:spPr>
          <a:xfrm>
            <a:off x="658368" y="685800"/>
            <a:ext cx="8138160" cy="530352"/>
          </a:xfrm>
          <a:prstGeom prst="rect">
            <a:avLst/>
          </a:prstGeom>
          <a:noFill/>
        </p:spPr>
        <p:txBody>
          <a:bodyPr wrap="square" lIns="36576" rIns="36576" tIns="36576" bIns="36576" anchor="t">
            <a:spAutoFit/>
          </a:bodyPr>
          <a:lstStyle/>
          <a:p>
            <a:pPr algn="l"/>
            <a:r>
              <a:rPr sz="2500" b="1" i="0">
                <a:solidFill>
                  <a:srgbClr val="FFFFFF"/>
                </a:solidFill>
                <a:latin typeface="Aptos"/>
              </a:rPr>
              <a:t>ETL &amp; Data Validation</a:t>
            </a:r>
          </a:p>
        </p:txBody>
      </p:sp>
      <p:sp>
        <p:nvSpPr>
          <p:cNvPr id="4" name="Rectangle 3"/>
          <p:cNvSpPr/>
          <p:nvPr/>
        </p:nvSpPr>
        <p:spPr>
          <a:xfrm>
            <a:off x="658368" y="1307592"/>
            <a:ext cx="1051560" cy="5029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73952"/>
            <a:ext cx="6858000" cy="201168"/>
          </a:xfrm>
          <a:prstGeom prst="rect">
            <a:avLst/>
          </a:prstGeom>
          <a:noFill/>
        </p:spPr>
        <p:txBody>
          <a:bodyPr wrap="square" lIns="36576" rIns="36576" tIns="36576" bIns="36576" anchor="t">
            <a:spAutoFit/>
          </a:bodyPr>
          <a:lstStyle/>
          <a:p>
            <a:pPr algn="l"/>
            <a:r>
              <a:rPr sz="850" b="0" i="0">
                <a:solidFill>
                  <a:srgbClr val="CFD9E8"/>
                </a:solidFill>
                <a:latin typeface="Aptos"/>
              </a:rPr>
              <a:t>Walmart Supply Chain Analytics Dashboard</a:t>
            </a:r>
          </a:p>
        </p:txBody>
      </p:sp>
      <p:sp>
        <p:nvSpPr>
          <p:cNvPr id="6" name="TextBox 5"/>
          <p:cNvSpPr txBox="1"/>
          <p:nvPr/>
        </p:nvSpPr>
        <p:spPr>
          <a:xfrm>
            <a:off x="11018520" y="6446520"/>
            <a:ext cx="502920" cy="228600"/>
          </a:xfrm>
          <a:prstGeom prst="rect">
            <a:avLst/>
          </a:prstGeom>
          <a:noFill/>
        </p:spPr>
        <p:txBody>
          <a:bodyPr wrap="square" lIns="36576" rIns="36576" tIns="36576" bIns="36576" anchor="t">
            <a:spAutoFit/>
          </a:bodyPr>
          <a:lstStyle/>
          <a:p>
            <a:pPr algn="r"/>
            <a:r>
              <a:rPr sz="900" b="0" i="0">
                <a:solidFill>
                  <a:srgbClr val="CFD9E8"/>
                </a:solidFill>
                <a:latin typeface="Aptos"/>
              </a:rPr>
              <a:t>6</a:t>
            </a:r>
          </a:p>
        </p:txBody>
      </p:sp>
      <p:sp>
        <p:nvSpPr>
          <p:cNvPr id="7" name="Rounded Rectangle 6"/>
          <p:cNvSpPr/>
          <p:nvPr/>
        </p:nvSpPr>
        <p:spPr>
          <a:xfrm>
            <a:off x="658368" y="1627632"/>
            <a:ext cx="5257800" cy="4160520"/>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27632"/>
            <a:ext cx="68580" cy="4160520"/>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773936"/>
            <a:ext cx="4937760" cy="310896"/>
          </a:xfrm>
          <a:prstGeom prst="rect">
            <a:avLst/>
          </a:prstGeom>
          <a:noFill/>
        </p:spPr>
        <p:txBody>
          <a:bodyPr wrap="square" lIns="36576" rIns="36576" tIns="36576" bIns="36576" anchor="t">
            <a:spAutoFit/>
          </a:bodyPr>
          <a:lstStyle/>
          <a:p>
            <a:pPr algn="l"/>
            <a:r>
              <a:rPr sz="1500" b="1" i="0">
                <a:solidFill>
                  <a:srgbClr val="FFFFFF"/>
                </a:solidFill>
                <a:latin typeface="Aptos"/>
              </a:rPr>
              <a:t>Data Preparation</a:t>
            </a:r>
          </a:p>
        </p:txBody>
      </p:sp>
      <p:sp>
        <p:nvSpPr>
          <p:cNvPr id="10" name="TextBox 9"/>
          <p:cNvSpPr txBox="1"/>
          <p:nvPr/>
        </p:nvSpPr>
        <p:spPr>
          <a:xfrm>
            <a:off x="859536" y="2148840"/>
            <a:ext cx="4937760" cy="3502152"/>
          </a:xfrm>
          <a:prstGeom prst="rect">
            <a:avLst/>
          </a:prstGeom>
          <a:noFill/>
        </p:spPr>
        <p:txBody>
          <a:bodyPr wrap="square" lIns="36576" rIns="36576" tIns="36576" bIns="36576" anchor="t">
            <a:spAutoFit/>
          </a:bodyPr>
          <a:lstStyle/>
          <a:p>
            <a:pPr algn="l"/>
            <a:r>
              <a:rPr sz="1400" b="0" i="0">
                <a:solidFill>
                  <a:srgbClr val="CFD9E8"/>
                </a:solidFill>
                <a:latin typeface="Aptos"/>
              </a:rPr>
              <a:t>• Verified table structures
• Checked column data types
• Validated numeric and date fields
• Reviewed IDs and inventory quantities
• Prepared tables for Power BI
• Verified imported data</a:t>
            </a:r>
          </a:p>
        </p:txBody>
      </p:sp>
      <p:sp>
        <p:nvSpPr>
          <p:cNvPr id="11" name="Rounded Rectangle 10"/>
          <p:cNvSpPr/>
          <p:nvPr/>
        </p:nvSpPr>
        <p:spPr>
          <a:xfrm>
            <a:off x="6199632" y="1627632"/>
            <a:ext cx="5321808" cy="4160520"/>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9632" y="1627632"/>
            <a:ext cx="68580" cy="416052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773936"/>
            <a:ext cx="5001768" cy="310896"/>
          </a:xfrm>
          <a:prstGeom prst="rect">
            <a:avLst/>
          </a:prstGeom>
          <a:noFill/>
        </p:spPr>
        <p:txBody>
          <a:bodyPr wrap="square" lIns="36576" rIns="36576" tIns="36576" bIns="36576" anchor="t">
            <a:spAutoFit/>
          </a:bodyPr>
          <a:lstStyle/>
          <a:p>
            <a:pPr algn="l"/>
            <a:r>
              <a:rPr sz="1500" b="1" i="0">
                <a:solidFill>
                  <a:srgbClr val="FFFFFF"/>
                </a:solidFill>
                <a:latin typeface="Aptos"/>
              </a:rPr>
              <a:t>Power Query &amp; SQL</a:t>
            </a:r>
          </a:p>
        </p:txBody>
      </p:sp>
      <p:sp>
        <p:nvSpPr>
          <p:cNvPr id="14" name="TextBox 13"/>
          <p:cNvSpPr txBox="1"/>
          <p:nvPr/>
        </p:nvSpPr>
        <p:spPr>
          <a:xfrm>
            <a:off x="6400800" y="2148840"/>
            <a:ext cx="5001768" cy="3502152"/>
          </a:xfrm>
          <a:prstGeom prst="rect">
            <a:avLst/>
          </a:prstGeom>
          <a:noFill/>
        </p:spPr>
        <p:txBody>
          <a:bodyPr wrap="square" lIns="36576" rIns="36576" tIns="36576" bIns="36576" anchor="t">
            <a:spAutoFit/>
          </a:bodyPr>
          <a:lstStyle/>
          <a:p>
            <a:pPr algn="l"/>
            <a:r>
              <a:rPr sz="1400" b="0" i="0">
                <a:solidFill>
                  <a:srgbClr val="CFD9E8"/>
                </a:solidFill>
                <a:latin typeface="Aptos"/>
              </a:rPr>
              <a:t>• Power Query used for data preparation and transformation
• SQL used for data inspection and validation
• Database exported as an SQL backup
• Prepared a consistent dataset for modeling and visualization</a:t>
            </a:r>
          </a:p>
        </p:txBody>
      </p:sp>
      <p:sp>
        <p:nvSpPr>
          <p:cNvPr id="15" name="TextBox 14"/>
          <p:cNvSpPr txBox="1"/>
          <p:nvPr/>
        </p:nvSpPr>
        <p:spPr>
          <a:xfrm>
            <a:off x="658368" y="5925312"/>
            <a:ext cx="10607040" cy="329184"/>
          </a:xfrm>
          <a:prstGeom prst="rect">
            <a:avLst/>
          </a:prstGeom>
          <a:noFill/>
        </p:spPr>
        <p:txBody>
          <a:bodyPr wrap="square" lIns="36576" rIns="36576" tIns="36576" bIns="36576" anchor="t">
            <a:spAutoFit/>
          </a:bodyPr>
          <a:lstStyle/>
          <a:p>
            <a:pPr algn="l"/>
            <a:r>
              <a:rPr sz="1300" b="1" i="0">
                <a:solidFill>
                  <a:srgbClr val="CFD9E8"/>
                </a:solidFill>
                <a:latin typeface="Aptos"/>
              </a:rPr>
              <a:t>Goal: create a reliable data foundation before building KPIs and visuals.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F45"/>
        </a:solidFill>
        <a:effectLst/>
      </p:bgPr>
    </p:bg>
    <p:spTree>
      <p:nvGrpSpPr>
        <p:cNvPr id="1" name=""/>
        <p:cNvGrpSpPr/>
        <p:nvPr/>
      </p:nvGrpSpPr>
      <p:grpSpPr/>
      <p:sp>
        <p:nvSpPr>
          <p:cNvPr id="2" name="TextBox 1"/>
          <p:cNvSpPr txBox="1"/>
          <p:nvPr/>
        </p:nvSpPr>
        <p:spPr>
          <a:xfrm>
            <a:off x="658368" y="347472"/>
            <a:ext cx="2926080" cy="274320"/>
          </a:xfrm>
          <a:prstGeom prst="rect">
            <a:avLst/>
          </a:prstGeom>
          <a:noFill/>
        </p:spPr>
        <p:txBody>
          <a:bodyPr wrap="square" lIns="36576" rIns="36576" tIns="36576" bIns="36576" anchor="t">
            <a:spAutoFit/>
          </a:bodyPr>
          <a:lstStyle/>
          <a:p>
            <a:pPr algn="l"/>
            <a:r>
              <a:rPr sz="1100" b="1" i="0">
                <a:solidFill>
                  <a:srgbClr val="FFC220"/>
                </a:solidFill>
                <a:latin typeface="Aptos"/>
              </a:rPr>
              <a:t>ANALYTICAL LAYER</a:t>
            </a:r>
          </a:p>
        </p:txBody>
      </p:sp>
      <p:sp>
        <p:nvSpPr>
          <p:cNvPr id="3" name="TextBox 2"/>
          <p:cNvSpPr txBox="1"/>
          <p:nvPr/>
        </p:nvSpPr>
        <p:spPr>
          <a:xfrm>
            <a:off x="658368" y="685800"/>
            <a:ext cx="8138160" cy="530352"/>
          </a:xfrm>
          <a:prstGeom prst="rect">
            <a:avLst/>
          </a:prstGeom>
          <a:noFill/>
        </p:spPr>
        <p:txBody>
          <a:bodyPr wrap="square" lIns="36576" rIns="36576" tIns="36576" bIns="36576" anchor="t">
            <a:spAutoFit/>
          </a:bodyPr>
          <a:lstStyle/>
          <a:p>
            <a:pPr algn="l"/>
            <a:r>
              <a:rPr sz="2500" b="1" i="0">
                <a:solidFill>
                  <a:srgbClr val="FFFFFF"/>
                </a:solidFill>
                <a:latin typeface="Aptos"/>
              </a:rPr>
              <a:t>DAX Measures &amp; Dashboard Design</a:t>
            </a:r>
          </a:p>
        </p:txBody>
      </p:sp>
      <p:sp>
        <p:nvSpPr>
          <p:cNvPr id="4" name="Rectangle 3"/>
          <p:cNvSpPr/>
          <p:nvPr/>
        </p:nvSpPr>
        <p:spPr>
          <a:xfrm>
            <a:off x="658368" y="1307592"/>
            <a:ext cx="1051560" cy="5029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73952"/>
            <a:ext cx="6858000" cy="201168"/>
          </a:xfrm>
          <a:prstGeom prst="rect">
            <a:avLst/>
          </a:prstGeom>
          <a:noFill/>
        </p:spPr>
        <p:txBody>
          <a:bodyPr wrap="square" lIns="36576" rIns="36576" tIns="36576" bIns="36576" anchor="t">
            <a:spAutoFit/>
          </a:bodyPr>
          <a:lstStyle/>
          <a:p>
            <a:pPr algn="l"/>
            <a:r>
              <a:rPr sz="850" b="0" i="0">
                <a:solidFill>
                  <a:srgbClr val="CFD9E8"/>
                </a:solidFill>
                <a:latin typeface="Aptos"/>
              </a:rPr>
              <a:t>Walmart Supply Chain Analytics Dashboard</a:t>
            </a:r>
          </a:p>
        </p:txBody>
      </p:sp>
      <p:sp>
        <p:nvSpPr>
          <p:cNvPr id="6" name="TextBox 5"/>
          <p:cNvSpPr txBox="1"/>
          <p:nvPr/>
        </p:nvSpPr>
        <p:spPr>
          <a:xfrm>
            <a:off x="11018520" y="6446520"/>
            <a:ext cx="502920" cy="228600"/>
          </a:xfrm>
          <a:prstGeom prst="rect">
            <a:avLst/>
          </a:prstGeom>
          <a:noFill/>
        </p:spPr>
        <p:txBody>
          <a:bodyPr wrap="square" lIns="36576" rIns="36576" tIns="36576" bIns="36576" anchor="t">
            <a:spAutoFit/>
          </a:bodyPr>
          <a:lstStyle/>
          <a:p>
            <a:pPr algn="r"/>
            <a:r>
              <a:rPr sz="900" b="0" i="0">
                <a:solidFill>
                  <a:srgbClr val="CFD9E8"/>
                </a:solidFill>
                <a:latin typeface="Aptos"/>
              </a:rPr>
              <a:t>7</a:t>
            </a:r>
          </a:p>
        </p:txBody>
      </p:sp>
      <p:sp>
        <p:nvSpPr>
          <p:cNvPr id="7" name="Rounded Rectangle 6"/>
          <p:cNvSpPr/>
          <p:nvPr/>
        </p:nvSpPr>
        <p:spPr>
          <a:xfrm>
            <a:off x="658368" y="1627632"/>
            <a:ext cx="5349240" cy="4206240"/>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27632"/>
            <a:ext cx="68580" cy="4206240"/>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773936"/>
            <a:ext cx="5029200" cy="310896"/>
          </a:xfrm>
          <a:prstGeom prst="rect">
            <a:avLst/>
          </a:prstGeom>
          <a:noFill/>
        </p:spPr>
        <p:txBody>
          <a:bodyPr wrap="square" lIns="36576" rIns="36576" tIns="36576" bIns="36576" anchor="t">
            <a:spAutoFit/>
          </a:bodyPr>
          <a:lstStyle/>
          <a:p>
            <a:pPr algn="l"/>
            <a:r>
              <a:rPr sz="1500" b="1" i="0">
                <a:solidFill>
                  <a:srgbClr val="FFFFFF"/>
                </a:solidFill>
                <a:latin typeface="Aptos"/>
              </a:rPr>
              <a:t>Key DAX Measures</a:t>
            </a:r>
          </a:p>
        </p:txBody>
      </p:sp>
      <p:sp>
        <p:nvSpPr>
          <p:cNvPr id="10" name="TextBox 9"/>
          <p:cNvSpPr txBox="1"/>
          <p:nvPr/>
        </p:nvSpPr>
        <p:spPr>
          <a:xfrm>
            <a:off x="859536" y="2148840"/>
            <a:ext cx="5029200" cy="3547872"/>
          </a:xfrm>
          <a:prstGeom prst="rect">
            <a:avLst/>
          </a:prstGeom>
          <a:noFill/>
        </p:spPr>
        <p:txBody>
          <a:bodyPr wrap="square" lIns="36576" rIns="36576" tIns="36576" bIns="36576" anchor="t">
            <a:spAutoFit/>
          </a:bodyPr>
          <a:lstStyle/>
          <a:p>
            <a:pPr algn="l"/>
            <a:r>
              <a:rPr sz="1250" b="0" i="0">
                <a:solidFill>
                  <a:srgbClr val="CFD9E8"/>
                </a:solidFill>
                <a:latin typeface="Aptos"/>
              </a:rPr>
              <a:t>Total Sales
Total Orders
Total Quantity
Average Order Value
Delivered Shipments
Delayed Shipments
Delayed Shipment %
Total Suppliers
Inventory Value
Closing Stock
Reorder Items</a:t>
            </a:r>
          </a:p>
        </p:txBody>
      </p:sp>
      <p:sp>
        <p:nvSpPr>
          <p:cNvPr id="11" name="Rounded Rectangle 10"/>
          <p:cNvSpPr/>
          <p:nvPr/>
        </p:nvSpPr>
        <p:spPr>
          <a:xfrm>
            <a:off x="6236208" y="1627632"/>
            <a:ext cx="5285232" cy="4206240"/>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6208" y="1627632"/>
            <a:ext cx="68580" cy="420624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773936"/>
            <a:ext cx="4965192" cy="310896"/>
          </a:xfrm>
          <a:prstGeom prst="rect">
            <a:avLst/>
          </a:prstGeom>
          <a:noFill/>
        </p:spPr>
        <p:txBody>
          <a:bodyPr wrap="square" lIns="36576" rIns="36576" tIns="36576" bIns="36576" anchor="t">
            <a:spAutoFit/>
          </a:bodyPr>
          <a:lstStyle/>
          <a:p>
            <a:pPr algn="l"/>
            <a:r>
              <a:rPr sz="1500" b="1" i="0">
                <a:solidFill>
                  <a:srgbClr val="FFFFFF"/>
                </a:solidFill>
                <a:latin typeface="Aptos"/>
              </a:rPr>
              <a:t>Dashboard Design</a:t>
            </a:r>
          </a:p>
        </p:txBody>
      </p:sp>
      <p:sp>
        <p:nvSpPr>
          <p:cNvPr id="14" name="TextBox 13"/>
          <p:cNvSpPr txBox="1"/>
          <p:nvPr/>
        </p:nvSpPr>
        <p:spPr>
          <a:xfrm>
            <a:off x="6437376" y="2148840"/>
            <a:ext cx="4965192" cy="3547872"/>
          </a:xfrm>
          <a:prstGeom prst="rect">
            <a:avLst/>
          </a:prstGeom>
          <a:noFill/>
        </p:spPr>
        <p:txBody>
          <a:bodyPr wrap="square" lIns="36576" rIns="36576" tIns="36576" bIns="36576" anchor="t">
            <a:spAutoFit/>
          </a:bodyPr>
          <a:lstStyle/>
          <a:p>
            <a:pPr algn="l"/>
            <a:r>
              <a:rPr sz="1350" b="0" i="0">
                <a:solidFill>
                  <a:srgbClr val="CFD9E8"/>
                </a:solidFill>
                <a:latin typeface="Aptos"/>
              </a:rPr>
              <a:t>3 interactive report pages
• Supply Chain Overview
• Inventory &amp; Warehouse Performance
• Shipment &amp; Supplier Performance
Walmart-inspired theme • KPI cards • charts • Region slicer • synchronized filtering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F45"/>
        </a:solidFill>
        <a:effectLst/>
      </p:bgPr>
    </p:bg>
    <p:spTree>
      <p:nvGrpSpPr>
        <p:cNvPr id="1" name=""/>
        <p:cNvGrpSpPr/>
        <p:nvPr/>
      </p:nvGrpSpPr>
      <p:grpSpPr/>
      <p:sp>
        <p:nvSpPr>
          <p:cNvPr id="2" name="TextBox 1"/>
          <p:cNvSpPr txBox="1"/>
          <p:nvPr/>
        </p:nvSpPr>
        <p:spPr>
          <a:xfrm>
            <a:off x="658368" y="347472"/>
            <a:ext cx="2926080" cy="274320"/>
          </a:xfrm>
          <a:prstGeom prst="rect">
            <a:avLst/>
          </a:prstGeom>
          <a:noFill/>
        </p:spPr>
        <p:txBody>
          <a:bodyPr wrap="square" lIns="36576" rIns="36576" tIns="36576" bIns="36576" anchor="t">
            <a:spAutoFit/>
          </a:bodyPr>
          <a:lstStyle/>
          <a:p>
            <a:pPr algn="l"/>
            <a:r>
              <a:rPr sz="1100" b="1" i="0">
                <a:solidFill>
                  <a:srgbClr val="FFC220"/>
                </a:solidFill>
                <a:latin typeface="Aptos"/>
              </a:rPr>
              <a:t>REPORTING LAYER</a:t>
            </a:r>
          </a:p>
        </p:txBody>
      </p:sp>
      <p:sp>
        <p:nvSpPr>
          <p:cNvPr id="3" name="TextBox 2"/>
          <p:cNvSpPr txBox="1"/>
          <p:nvPr/>
        </p:nvSpPr>
        <p:spPr>
          <a:xfrm>
            <a:off x="658368" y="685800"/>
            <a:ext cx="8138160" cy="530352"/>
          </a:xfrm>
          <a:prstGeom prst="rect">
            <a:avLst/>
          </a:prstGeom>
          <a:noFill/>
        </p:spPr>
        <p:txBody>
          <a:bodyPr wrap="square" lIns="36576" rIns="36576" tIns="36576" bIns="36576" anchor="t">
            <a:spAutoFit/>
          </a:bodyPr>
          <a:lstStyle/>
          <a:p>
            <a:pPr algn="l"/>
            <a:r>
              <a:rPr sz="2500" b="1" i="0">
                <a:solidFill>
                  <a:srgbClr val="FFFFFF"/>
                </a:solidFill>
                <a:latin typeface="Aptos"/>
              </a:rPr>
              <a:t>Dashboard Pages, Visuals &amp; Filters</a:t>
            </a:r>
          </a:p>
        </p:txBody>
      </p:sp>
      <p:sp>
        <p:nvSpPr>
          <p:cNvPr id="4" name="Rectangle 3"/>
          <p:cNvSpPr/>
          <p:nvPr/>
        </p:nvSpPr>
        <p:spPr>
          <a:xfrm>
            <a:off x="658368" y="1307592"/>
            <a:ext cx="1051560" cy="5029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73952"/>
            <a:ext cx="6858000" cy="201168"/>
          </a:xfrm>
          <a:prstGeom prst="rect">
            <a:avLst/>
          </a:prstGeom>
          <a:noFill/>
        </p:spPr>
        <p:txBody>
          <a:bodyPr wrap="square" lIns="36576" rIns="36576" tIns="36576" bIns="36576" anchor="t">
            <a:spAutoFit/>
          </a:bodyPr>
          <a:lstStyle/>
          <a:p>
            <a:pPr algn="l"/>
            <a:r>
              <a:rPr sz="850" b="0" i="0">
                <a:solidFill>
                  <a:srgbClr val="CFD9E8"/>
                </a:solidFill>
                <a:latin typeface="Aptos"/>
              </a:rPr>
              <a:t>Walmart Supply Chain Analytics Dashboard</a:t>
            </a:r>
          </a:p>
        </p:txBody>
      </p:sp>
      <p:sp>
        <p:nvSpPr>
          <p:cNvPr id="6" name="TextBox 5"/>
          <p:cNvSpPr txBox="1"/>
          <p:nvPr/>
        </p:nvSpPr>
        <p:spPr>
          <a:xfrm>
            <a:off x="11018520" y="6446520"/>
            <a:ext cx="502920" cy="228600"/>
          </a:xfrm>
          <a:prstGeom prst="rect">
            <a:avLst/>
          </a:prstGeom>
          <a:noFill/>
        </p:spPr>
        <p:txBody>
          <a:bodyPr wrap="square" lIns="36576" rIns="36576" tIns="36576" bIns="36576" anchor="t">
            <a:spAutoFit/>
          </a:bodyPr>
          <a:lstStyle/>
          <a:p>
            <a:pPr algn="r"/>
            <a:r>
              <a:rPr sz="900" b="0" i="0">
                <a:solidFill>
                  <a:srgbClr val="CFD9E8"/>
                </a:solidFill>
                <a:latin typeface="Aptos"/>
              </a:rPr>
              <a:t>8</a:t>
            </a:r>
          </a:p>
        </p:txBody>
      </p:sp>
      <p:sp>
        <p:nvSpPr>
          <p:cNvPr id="7" name="Oval 6"/>
          <p:cNvSpPr/>
          <p:nvPr/>
        </p:nvSpPr>
        <p:spPr>
          <a:xfrm>
            <a:off x="713232" y="1600200"/>
            <a:ext cx="566928" cy="566928"/>
          </a:xfrm>
          <a:prstGeom prst="ellipse">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664208"/>
            <a:ext cx="566928" cy="411480"/>
          </a:xfrm>
          <a:prstGeom prst="rect">
            <a:avLst/>
          </a:prstGeom>
          <a:noFill/>
        </p:spPr>
        <p:txBody>
          <a:bodyPr wrap="square" lIns="36576" rIns="36576" tIns="36576" bIns="36576" anchor="ctr">
            <a:spAutoFit/>
          </a:bodyPr>
          <a:lstStyle/>
          <a:p>
            <a:pPr algn="ctr"/>
            <a:r>
              <a:rPr sz="1300" b="1" i="0">
                <a:solidFill>
                  <a:srgbClr val="0F1F45"/>
                </a:solidFill>
                <a:latin typeface="Aptos"/>
              </a:rPr>
              <a:t>1</a:t>
            </a:r>
          </a:p>
        </p:txBody>
      </p:sp>
      <p:sp>
        <p:nvSpPr>
          <p:cNvPr id="9" name="TextBox 8"/>
          <p:cNvSpPr txBox="1"/>
          <p:nvPr/>
        </p:nvSpPr>
        <p:spPr>
          <a:xfrm>
            <a:off x="1508760" y="1581912"/>
            <a:ext cx="4114800" cy="320040"/>
          </a:xfrm>
          <a:prstGeom prst="rect">
            <a:avLst/>
          </a:prstGeom>
          <a:noFill/>
        </p:spPr>
        <p:txBody>
          <a:bodyPr wrap="square" lIns="36576" rIns="36576" tIns="36576" bIns="36576" anchor="t">
            <a:spAutoFit/>
          </a:bodyPr>
          <a:lstStyle/>
          <a:p>
            <a:pPr algn="l"/>
            <a:r>
              <a:rPr sz="1600" b="1" i="0">
                <a:solidFill>
                  <a:srgbClr val="FFFFFF"/>
                </a:solidFill>
                <a:latin typeface="Aptos"/>
              </a:rPr>
              <a:t>Supply Chain Overview</a:t>
            </a:r>
          </a:p>
        </p:txBody>
      </p:sp>
      <p:sp>
        <p:nvSpPr>
          <p:cNvPr id="10" name="TextBox 9"/>
          <p:cNvSpPr txBox="1"/>
          <p:nvPr/>
        </p:nvSpPr>
        <p:spPr>
          <a:xfrm>
            <a:off x="1508760" y="1947672"/>
            <a:ext cx="9144000" cy="566928"/>
          </a:xfrm>
          <a:prstGeom prst="rect">
            <a:avLst/>
          </a:prstGeom>
          <a:noFill/>
        </p:spPr>
        <p:txBody>
          <a:bodyPr wrap="square" lIns="36576" rIns="36576" tIns="36576" bIns="36576" anchor="t">
            <a:spAutoFit/>
          </a:bodyPr>
          <a:lstStyle/>
          <a:p>
            <a:pPr algn="l"/>
            <a:r>
              <a:rPr sz="1250" b="0" i="0">
                <a:solidFill>
                  <a:srgbClr val="CFD9E8"/>
                </a:solidFill>
                <a:latin typeface="Aptos"/>
              </a:rPr>
              <a:t>Total Sales • Total Orders • Shipment Status • Monthly Trends • Regional Analysis</a:t>
            </a:r>
          </a:p>
        </p:txBody>
      </p:sp>
      <p:sp>
        <p:nvSpPr>
          <p:cNvPr id="11" name="Oval 10"/>
          <p:cNvSpPr/>
          <p:nvPr/>
        </p:nvSpPr>
        <p:spPr>
          <a:xfrm>
            <a:off x="713232" y="2953512"/>
            <a:ext cx="566928" cy="566928"/>
          </a:xfrm>
          <a:prstGeom prst="ellipse">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017520"/>
            <a:ext cx="566928" cy="411480"/>
          </a:xfrm>
          <a:prstGeom prst="rect">
            <a:avLst/>
          </a:prstGeom>
          <a:noFill/>
        </p:spPr>
        <p:txBody>
          <a:bodyPr wrap="square" lIns="36576" rIns="36576" tIns="36576" bIns="36576" anchor="ctr">
            <a:spAutoFit/>
          </a:bodyPr>
          <a:lstStyle/>
          <a:p>
            <a:pPr algn="ctr"/>
            <a:r>
              <a:rPr sz="1300" b="1" i="0">
                <a:solidFill>
                  <a:srgbClr val="0F1F45"/>
                </a:solidFill>
                <a:latin typeface="Aptos"/>
              </a:rPr>
              <a:t>2</a:t>
            </a:r>
          </a:p>
        </p:txBody>
      </p:sp>
      <p:sp>
        <p:nvSpPr>
          <p:cNvPr id="13" name="TextBox 12"/>
          <p:cNvSpPr txBox="1"/>
          <p:nvPr/>
        </p:nvSpPr>
        <p:spPr>
          <a:xfrm>
            <a:off x="1508760" y="2935224"/>
            <a:ext cx="4114800" cy="320040"/>
          </a:xfrm>
          <a:prstGeom prst="rect">
            <a:avLst/>
          </a:prstGeom>
          <a:noFill/>
        </p:spPr>
        <p:txBody>
          <a:bodyPr wrap="square" lIns="36576" rIns="36576" tIns="36576" bIns="36576" anchor="t">
            <a:spAutoFit/>
          </a:bodyPr>
          <a:lstStyle/>
          <a:p>
            <a:pPr algn="l"/>
            <a:r>
              <a:rPr sz="1600" b="1" i="0">
                <a:solidFill>
                  <a:srgbClr val="FFFFFF"/>
                </a:solidFill>
                <a:latin typeface="Aptos"/>
              </a:rPr>
              <a:t>Inventory &amp; Warehouse</a:t>
            </a:r>
          </a:p>
        </p:txBody>
      </p:sp>
      <p:sp>
        <p:nvSpPr>
          <p:cNvPr id="14" name="TextBox 13"/>
          <p:cNvSpPr txBox="1"/>
          <p:nvPr/>
        </p:nvSpPr>
        <p:spPr>
          <a:xfrm>
            <a:off x="1508760" y="3300984"/>
            <a:ext cx="9144000" cy="566928"/>
          </a:xfrm>
          <a:prstGeom prst="rect">
            <a:avLst/>
          </a:prstGeom>
          <a:noFill/>
        </p:spPr>
        <p:txBody>
          <a:bodyPr wrap="square" lIns="36576" rIns="36576" tIns="36576" bIns="36576" anchor="t">
            <a:spAutoFit/>
          </a:bodyPr>
          <a:lstStyle/>
          <a:p>
            <a:pPr algn="l"/>
            <a:r>
              <a:rPr sz="1250" b="0" i="0">
                <a:solidFill>
                  <a:srgbClr val="CFD9E8"/>
                </a:solidFill>
                <a:latin typeface="Aptos"/>
              </a:rPr>
              <a:t>Inventory Value • Closing Stock • Reorder Items • Stock Status • Regional Inventory</a:t>
            </a:r>
          </a:p>
        </p:txBody>
      </p:sp>
      <p:sp>
        <p:nvSpPr>
          <p:cNvPr id="15" name="Oval 14"/>
          <p:cNvSpPr/>
          <p:nvPr/>
        </p:nvSpPr>
        <p:spPr>
          <a:xfrm>
            <a:off x="713232" y="4306824"/>
            <a:ext cx="566928" cy="566928"/>
          </a:xfrm>
          <a:prstGeom prst="ellipse">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4370832"/>
            <a:ext cx="566928" cy="411480"/>
          </a:xfrm>
          <a:prstGeom prst="rect">
            <a:avLst/>
          </a:prstGeom>
          <a:noFill/>
        </p:spPr>
        <p:txBody>
          <a:bodyPr wrap="square" lIns="36576" rIns="36576" tIns="36576" bIns="36576" anchor="ctr">
            <a:spAutoFit/>
          </a:bodyPr>
          <a:lstStyle/>
          <a:p>
            <a:pPr algn="ctr"/>
            <a:r>
              <a:rPr sz="1300" b="1" i="0">
                <a:solidFill>
                  <a:srgbClr val="0F1F45"/>
                </a:solidFill>
                <a:latin typeface="Aptos"/>
              </a:rPr>
              <a:t>3</a:t>
            </a:r>
          </a:p>
        </p:txBody>
      </p:sp>
      <p:sp>
        <p:nvSpPr>
          <p:cNvPr id="17" name="TextBox 16"/>
          <p:cNvSpPr txBox="1"/>
          <p:nvPr/>
        </p:nvSpPr>
        <p:spPr>
          <a:xfrm>
            <a:off x="1508760" y="4288536"/>
            <a:ext cx="4114800" cy="320040"/>
          </a:xfrm>
          <a:prstGeom prst="rect">
            <a:avLst/>
          </a:prstGeom>
          <a:noFill/>
        </p:spPr>
        <p:txBody>
          <a:bodyPr wrap="square" lIns="36576" rIns="36576" tIns="36576" bIns="36576" anchor="t">
            <a:spAutoFit/>
          </a:bodyPr>
          <a:lstStyle/>
          <a:p>
            <a:pPr algn="l"/>
            <a:r>
              <a:rPr sz="1600" b="1" i="0">
                <a:solidFill>
                  <a:srgbClr val="FFFFFF"/>
                </a:solidFill>
                <a:latin typeface="Aptos"/>
              </a:rPr>
              <a:t>Shipment &amp; Supplier Performance</a:t>
            </a:r>
          </a:p>
        </p:txBody>
      </p:sp>
      <p:sp>
        <p:nvSpPr>
          <p:cNvPr id="18" name="TextBox 17"/>
          <p:cNvSpPr txBox="1"/>
          <p:nvPr/>
        </p:nvSpPr>
        <p:spPr>
          <a:xfrm>
            <a:off x="1508760" y="4654296"/>
            <a:ext cx="9144000" cy="566928"/>
          </a:xfrm>
          <a:prstGeom prst="rect">
            <a:avLst/>
          </a:prstGeom>
          <a:noFill/>
        </p:spPr>
        <p:txBody>
          <a:bodyPr wrap="square" lIns="36576" rIns="36576" tIns="36576" bIns="36576" anchor="t">
            <a:spAutoFit/>
          </a:bodyPr>
          <a:lstStyle/>
          <a:p>
            <a:pPr algn="l"/>
            <a:r>
              <a:rPr sz="1250" b="0" i="0">
                <a:solidFill>
                  <a:srgbClr val="CFD9E8"/>
                </a:solidFill>
                <a:latin typeface="Aptos"/>
              </a:rPr>
              <a:t>Delivered/Delayed Shipments • Delayed % • Shipment Trends • Top 20 Suppliers</a:t>
            </a:r>
          </a:p>
        </p:txBody>
      </p:sp>
      <p:sp>
        <p:nvSpPr>
          <p:cNvPr id="19" name="Rounded Rectangle 18"/>
          <p:cNvSpPr/>
          <p:nvPr/>
        </p:nvSpPr>
        <p:spPr>
          <a:xfrm>
            <a:off x="9098280" y="5742432"/>
            <a:ext cx="1417320" cy="347472"/>
          </a:xfrm>
          <a:prstGeom prst="round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98280" y="5769864"/>
            <a:ext cx="1417320" cy="265176"/>
          </a:xfrm>
          <a:prstGeom prst="rect">
            <a:avLst/>
          </a:prstGeom>
          <a:noFill/>
        </p:spPr>
        <p:txBody>
          <a:bodyPr wrap="square" lIns="36576" rIns="36576" tIns="36576" bIns="36576" anchor="ctr">
            <a:spAutoFit/>
          </a:bodyPr>
          <a:lstStyle/>
          <a:p>
            <a:pPr algn="ctr"/>
            <a:r>
              <a:rPr sz="1050" b="1" i="0">
                <a:solidFill>
                  <a:srgbClr val="FFFFFF"/>
                </a:solidFill>
                <a:latin typeface="Aptos"/>
              </a:rPr>
              <a:t>REGION SLICER</a:t>
            </a:r>
          </a:p>
        </p:txBody>
      </p:sp>
      <p:sp>
        <p:nvSpPr>
          <p:cNvPr id="21" name="TextBox 20"/>
          <p:cNvSpPr txBox="1"/>
          <p:nvPr/>
        </p:nvSpPr>
        <p:spPr>
          <a:xfrm>
            <a:off x="6903720" y="5779008"/>
            <a:ext cx="2011680" cy="274320"/>
          </a:xfrm>
          <a:prstGeom prst="rect">
            <a:avLst/>
          </a:prstGeom>
          <a:noFill/>
        </p:spPr>
        <p:txBody>
          <a:bodyPr wrap="square" lIns="36576" rIns="36576" tIns="36576" bIns="36576" anchor="t">
            <a:spAutoFit/>
          </a:bodyPr>
          <a:lstStyle/>
          <a:p>
            <a:pPr algn="r"/>
            <a:r>
              <a:rPr sz="1100" b="0" i="0">
                <a:solidFill>
                  <a:srgbClr val="CFD9E8"/>
                </a:solidFill>
                <a:latin typeface="Aptos"/>
              </a:rPr>
              <a:t>Synchronized across all 3 pages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F45"/>
        </a:solidFill>
        <a:effectLst/>
      </p:bgPr>
    </p:bg>
    <p:spTree>
      <p:nvGrpSpPr>
        <p:cNvPr id="1" name=""/>
        <p:cNvGrpSpPr/>
        <p:nvPr/>
      </p:nvGrpSpPr>
      <p:grpSpPr/>
      <p:sp>
        <p:nvSpPr>
          <p:cNvPr id="2" name="TextBox 1"/>
          <p:cNvSpPr txBox="1"/>
          <p:nvPr/>
        </p:nvSpPr>
        <p:spPr>
          <a:xfrm>
            <a:off x="658368" y="347472"/>
            <a:ext cx="2926080" cy="274320"/>
          </a:xfrm>
          <a:prstGeom prst="rect">
            <a:avLst/>
          </a:prstGeom>
          <a:noFill/>
        </p:spPr>
        <p:txBody>
          <a:bodyPr wrap="square" lIns="36576" rIns="36576" tIns="36576" bIns="36576" anchor="t">
            <a:spAutoFit/>
          </a:bodyPr>
          <a:lstStyle/>
          <a:p>
            <a:pPr algn="l"/>
            <a:r>
              <a:rPr sz="1100" b="1" i="0">
                <a:solidFill>
                  <a:srgbClr val="FFC220"/>
                </a:solidFill>
                <a:latin typeface="Aptos"/>
              </a:rPr>
              <a:t>FINDINGS</a:t>
            </a:r>
          </a:p>
        </p:txBody>
      </p:sp>
      <p:sp>
        <p:nvSpPr>
          <p:cNvPr id="3" name="TextBox 2"/>
          <p:cNvSpPr txBox="1"/>
          <p:nvPr/>
        </p:nvSpPr>
        <p:spPr>
          <a:xfrm>
            <a:off x="658368" y="685800"/>
            <a:ext cx="8138160" cy="530352"/>
          </a:xfrm>
          <a:prstGeom prst="rect">
            <a:avLst/>
          </a:prstGeom>
          <a:noFill/>
        </p:spPr>
        <p:txBody>
          <a:bodyPr wrap="square" lIns="36576" rIns="36576" tIns="36576" bIns="36576" anchor="t">
            <a:spAutoFit/>
          </a:bodyPr>
          <a:lstStyle/>
          <a:p>
            <a:pPr algn="l"/>
            <a:r>
              <a:rPr sz="2500" b="1" i="0">
                <a:solidFill>
                  <a:srgbClr val="FFFFFF"/>
                </a:solidFill>
                <a:latin typeface="Aptos"/>
              </a:rPr>
              <a:t>Key Insights &amp; Business Value</a:t>
            </a:r>
          </a:p>
        </p:txBody>
      </p:sp>
      <p:sp>
        <p:nvSpPr>
          <p:cNvPr id="4" name="Rectangle 3"/>
          <p:cNvSpPr/>
          <p:nvPr/>
        </p:nvSpPr>
        <p:spPr>
          <a:xfrm>
            <a:off x="658368" y="1307592"/>
            <a:ext cx="1051560" cy="5029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73952"/>
            <a:ext cx="6858000" cy="201168"/>
          </a:xfrm>
          <a:prstGeom prst="rect">
            <a:avLst/>
          </a:prstGeom>
          <a:noFill/>
        </p:spPr>
        <p:txBody>
          <a:bodyPr wrap="square" lIns="36576" rIns="36576" tIns="36576" bIns="36576" anchor="t">
            <a:spAutoFit/>
          </a:bodyPr>
          <a:lstStyle/>
          <a:p>
            <a:pPr algn="l"/>
            <a:r>
              <a:rPr sz="850" b="0" i="0">
                <a:solidFill>
                  <a:srgbClr val="CFD9E8"/>
                </a:solidFill>
                <a:latin typeface="Aptos"/>
              </a:rPr>
              <a:t>Walmart Supply Chain Analytics Dashboard</a:t>
            </a:r>
          </a:p>
        </p:txBody>
      </p:sp>
      <p:sp>
        <p:nvSpPr>
          <p:cNvPr id="6" name="TextBox 5"/>
          <p:cNvSpPr txBox="1"/>
          <p:nvPr/>
        </p:nvSpPr>
        <p:spPr>
          <a:xfrm>
            <a:off x="11018520" y="6446520"/>
            <a:ext cx="502920" cy="228600"/>
          </a:xfrm>
          <a:prstGeom prst="rect">
            <a:avLst/>
          </a:prstGeom>
          <a:noFill/>
        </p:spPr>
        <p:txBody>
          <a:bodyPr wrap="square" lIns="36576" rIns="36576" tIns="36576" bIns="36576" anchor="t">
            <a:spAutoFit/>
          </a:bodyPr>
          <a:lstStyle/>
          <a:p>
            <a:pPr algn="r"/>
            <a:r>
              <a:rPr sz="900" b="0" i="0">
                <a:solidFill>
                  <a:srgbClr val="CFD9E8"/>
                </a:solidFill>
                <a:latin typeface="Aptos"/>
              </a:rPr>
              <a:t>9</a:t>
            </a:r>
          </a:p>
        </p:txBody>
      </p:sp>
      <p:sp>
        <p:nvSpPr>
          <p:cNvPr id="7" name="Rounded Rectangle 6"/>
          <p:cNvSpPr/>
          <p:nvPr/>
        </p:nvSpPr>
        <p:spPr>
          <a:xfrm>
            <a:off x="658368" y="1664208"/>
            <a:ext cx="5166360" cy="1024128"/>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64208"/>
            <a:ext cx="68580" cy="102412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10512"/>
            <a:ext cx="4846320" cy="310896"/>
          </a:xfrm>
          <a:prstGeom prst="rect">
            <a:avLst/>
          </a:prstGeom>
          <a:noFill/>
        </p:spPr>
        <p:txBody>
          <a:bodyPr wrap="square" lIns="36576" rIns="36576" tIns="36576" bIns="36576" anchor="t">
            <a:spAutoFit/>
          </a:bodyPr>
          <a:lstStyle/>
          <a:p>
            <a:pPr algn="l"/>
            <a:r>
              <a:rPr sz="1500" b="1" i="0">
                <a:solidFill>
                  <a:srgbClr val="FFFFFF"/>
                </a:solidFill>
                <a:latin typeface="Aptos"/>
              </a:rPr>
              <a:t>INSIGHT 1</a:t>
            </a:r>
          </a:p>
        </p:txBody>
      </p:sp>
      <p:sp>
        <p:nvSpPr>
          <p:cNvPr id="10" name="TextBox 9"/>
          <p:cNvSpPr txBox="1"/>
          <p:nvPr/>
        </p:nvSpPr>
        <p:spPr>
          <a:xfrm>
            <a:off x="859536" y="2185416"/>
            <a:ext cx="4846320" cy="365760"/>
          </a:xfrm>
          <a:prstGeom prst="rect">
            <a:avLst/>
          </a:prstGeom>
          <a:noFill/>
        </p:spPr>
        <p:txBody>
          <a:bodyPr wrap="square" lIns="36576" rIns="36576" tIns="36576" bIns="36576" anchor="t">
            <a:spAutoFit/>
          </a:bodyPr>
          <a:lstStyle/>
          <a:p>
            <a:pPr algn="l"/>
            <a:r>
              <a:rPr sz="1150" b="0" i="0">
                <a:solidFill>
                  <a:srgbClr val="CFD9E8"/>
                </a:solidFill>
                <a:latin typeface="Aptos"/>
              </a:rPr>
              <a:t>Sales and order performance can be monitored from a single overview.</a:t>
            </a:r>
          </a:p>
        </p:txBody>
      </p:sp>
      <p:sp>
        <p:nvSpPr>
          <p:cNvPr id="11" name="Rounded Rectangle 10"/>
          <p:cNvSpPr/>
          <p:nvPr/>
        </p:nvSpPr>
        <p:spPr>
          <a:xfrm>
            <a:off x="6144768" y="1664208"/>
            <a:ext cx="5166360" cy="1024128"/>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44768" y="1664208"/>
            <a:ext cx="68580" cy="1024128"/>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5936" y="1810512"/>
            <a:ext cx="4846320" cy="310896"/>
          </a:xfrm>
          <a:prstGeom prst="rect">
            <a:avLst/>
          </a:prstGeom>
          <a:noFill/>
        </p:spPr>
        <p:txBody>
          <a:bodyPr wrap="square" lIns="36576" rIns="36576" tIns="36576" bIns="36576" anchor="t">
            <a:spAutoFit/>
          </a:bodyPr>
          <a:lstStyle/>
          <a:p>
            <a:pPr algn="l"/>
            <a:r>
              <a:rPr sz="1500" b="1" i="0">
                <a:solidFill>
                  <a:srgbClr val="FFFFFF"/>
                </a:solidFill>
                <a:latin typeface="Aptos"/>
              </a:rPr>
              <a:t>INSIGHT 2</a:t>
            </a:r>
          </a:p>
        </p:txBody>
      </p:sp>
      <p:sp>
        <p:nvSpPr>
          <p:cNvPr id="14" name="TextBox 13"/>
          <p:cNvSpPr txBox="1"/>
          <p:nvPr/>
        </p:nvSpPr>
        <p:spPr>
          <a:xfrm>
            <a:off x="6345936" y="2185416"/>
            <a:ext cx="4846320" cy="365760"/>
          </a:xfrm>
          <a:prstGeom prst="rect">
            <a:avLst/>
          </a:prstGeom>
          <a:noFill/>
        </p:spPr>
        <p:txBody>
          <a:bodyPr wrap="square" lIns="36576" rIns="36576" tIns="36576" bIns="36576" anchor="t">
            <a:spAutoFit/>
          </a:bodyPr>
          <a:lstStyle/>
          <a:p>
            <a:pPr algn="l"/>
            <a:r>
              <a:rPr sz="1150" b="0" i="0">
                <a:solidFill>
                  <a:srgbClr val="CFD9E8"/>
                </a:solidFill>
                <a:latin typeface="Aptos"/>
              </a:rPr>
              <a:t>Delivered vs. delayed shipments provide visibility into logistics performance.</a:t>
            </a:r>
          </a:p>
        </p:txBody>
      </p:sp>
      <p:sp>
        <p:nvSpPr>
          <p:cNvPr id="15" name="Rounded Rectangle 14"/>
          <p:cNvSpPr/>
          <p:nvPr/>
        </p:nvSpPr>
        <p:spPr>
          <a:xfrm>
            <a:off x="658368" y="2962656"/>
            <a:ext cx="5166360" cy="1024128"/>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2962656"/>
            <a:ext cx="68580" cy="102412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3108960"/>
            <a:ext cx="4846320" cy="310896"/>
          </a:xfrm>
          <a:prstGeom prst="rect">
            <a:avLst/>
          </a:prstGeom>
          <a:noFill/>
        </p:spPr>
        <p:txBody>
          <a:bodyPr wrap="square" lIns="36576" rIns="36576" tIns="36576" bIns="36576" anchor="t">
            <a:spAutoFit/>
          </a:bodyPr>
          <a:lstStyle/>
          <a:p>
            <a:pPr algn="l"/>
            <a:r>
              <a:rPr sz="1500" b="1" i="0">
                <a:solidFill>
                  <a:srgbClr val="FFFFFF"/>
                </a:solidFill>
                <a:latin typeface="Aptos"/>
              </a:rPr>
              <a:t>INSIGHT 3</a:t>
            </a:r>
          </a:p>
        </p:txBody>
      </p:sp>
      <p:sp>
        <p:nvSpPr>
          <p:cNvPr id="18" name="TextBox 17"/>
          <p:cNvSpPr txBox="1"/>
          <p:nvPr/>
        </p:nvSpPr>
        <p:spPr>
          <a:xfrm>
            <a:off x="859536" y="3483864"/>
            <a:ext cx="4846320" cy="365760"/>
          </a:xfrm>
          <a:prstGeom prst="rect">
            <a:avLst/>
          </a:prstGeom>
          <a:noFill/>
        </p:spPr>
        <p:txBody>
          <a:bodyPr wrap="square" lIns="36576" rIns="36576" tIns="36576" bIns="36576" anchor="t">
            <a:spAutoFit/>
          </a:bodyPr>
          <a:lstStyle/>
          <a:p>
            <a:pPr algn="l"/>
            <a:r>
              <a:rPr sz="1150" b="0" i="0">
                <a:solidFill>
                  <a:srgbClr val="CFD9E8"/>
                </a:solidFill>
                <a:latin typeface="Aptos"/>
              </a:rPr>
              <a:t>Regional analysis highlights differences in inventory and shipment activity.</a:t>
            </a:r>
          </a:p>
        </p:txBody>
      </p:sp>
      <p:sp>
        <p:nvSpPr>
          <p:cNvPr id="19" name="Rounded Rectangle 18"/>
          <p:cNvSpPr/>
          <p:nvPr/>
        </p:nvSpPr>
        <p:spPr>
          <a:xfrm>
            <a:off x="6144768" y="2962656"/>
            <a:ext cx="5166360" cy="1024128"/>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2962656"/>
            <a:ext cx="68580" cy="1024128"/>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45936" y="3108960"/>
            <a:ext cx="4846320" cy="310896"/>
          </a:xfrm>
          <a:prstGeom prst="rect">
            <a:avLst/>
          </a:prstGeom>
          <a:noFill/>
        </p:spPr>
        <p:txBody>
          <a:bodyPr wrap="square" lIns="36576" rIns="36576" tIns="36576" bIns="36576" anchor="t">
            <a:spAutoFit/>
          </a:bodyPr>
          <a:lstStyle/>
          <a:p>
            <a:pPr algn="l"/>
            <a:r>
              <a:rPr sz="1500" b="1" i="0">
                <a:solidFill>
                  <a:srgbClr val="FFFFFF"/>
                </a:solidFill>
                <a:latin typeface="Aptos"/>
              </a:rPr>
              <a:t>INSIGHT 4</a:t>
            </a:r>
          </a:p>
        </p:txBody>
      </p:sp>
      <p:sp>
        <p:nvSpPr>
          <p:cNvPr id="22" name="TextBox 21"/>
          <p:cNvSpPr txBox="1"/>
          <p:nvPr/>
        </p:nvSpPr>
        <p:spPr>
          <a:xfrm>
            <a:off x="6345936" y="3483864"/>
            <a:ext cx="4846320" cy="365760"/>
          </a:xfrm>
          <a:prstGeom prst="rect">
            <a:avLst/>
          </a:prstGeom>
          <a:noFill/>
        </p:spPr>
        <p:txBody>
          <a:bodyPr wrap="square" lIns="36576" rIns="36576" tIns="36576" bIns="36576" anchor="t">
            <a:spAutoFit/>
          </a:bodyPr>
          <a:lstStyle/>
          <a:p>
            <a:pPr algn="l"/>
            <a:r>
              <a:rPr sz="1150" b="0" i="0">
                <a:solidFill>
                  <a:srgbClr val="CFD9E8"/>
                </a:solidFill>
                <a:latin typeface="Aptos"/>
              </a:rPr>
              <a:t>Stock and reorder metrics support inventory monitoring.</a:t>
            </a:r>
          </a:p>
        </p:txBody>
      </p:sp>
      <p:sp>
        <p:nvSpPr>
          <p:cNvPr id="23" name="Rounded Rectangle 22"/>
          <p:cNvSpPr/>
          <p:nvPr/>
        </p:nvSpPr>
        <p:spPr>
          <a:xfrm>
            <a:off x="658368" y="4261104"/>
            <a:ext cx="5166360" cy="1024128"/>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8368" y="4261104"/>
            <a:ext cx="68580" cy="102412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6" y="4407408"/>
            <a:ext cx="4846320" cy="310896"/>
          </a:xfrm>
          <a:prstGeom prst="rect">
            <a:avLst/>
          </a:prstGeom>
          <a:noFill/>
        </p:spPr>
        <p:txBody>
          <a:bodyPr wrap="square" lIns="36576" rIns="36576" tIns="36576" bIns="36576" anchor="t">
            <a:spAutoFit/>
          </a:bodyPr>
          <a:lstStyle/>
          <a:p>
            <a:pPr algn="l"/>
            <a:r>
              <a:rPr sz="1500" b="1" i="0">
                <a:solidFill>
                  <a:srgbClr val="FFFFFF"/>
                </a:solidFill>
                <a:latin typeface="Aptos"/>
              </a:rPr>
              <a:t>INSIGHT 5</a:t>
            </a:r>
          </a:p>
        </p:txBody>
      </p:sp>
      <p:sp>
        <p:nvSpPr>
          <p:cNvPr id="26" name="TextBox 25"/>
          <p:cNvSpPr txBox="1"/>
          <p:nvPr/>
        </p:nvSpPr>
        <p:spPr>
          <a:xfrm>
            <a:off x="859536" y="4782312"/>
            <a:ext cx="4846320" cy="365760"/>
          </a:xfrm>
          <a:prstGeom prst="rect">
            <a:avLst/>
          </a:prstGeom>
          <a:noFill/>
        </p:spPr>
        <p:txBody>
          <a:bodyPr wrap="square" lIns="36576" rIns="36576" tIns="36576" bIns="36576" anchor="t">
            <a:spAutoFit/>
          </a:bodyPr>
          <a:lstStyle/>
          <a:p>
            <a:pPr algn="l"/>
            <a:r>
              <a:rPr sz="1150" b="0" i="0">
                <a:solidFill>
                  <a:srgbClr val="CFD9E8"/>
                </a:solidFill>
                <a:latin typeface="Aptos"/>
              </a:rPr>
              <a:t>Top 20 supplier analysis helps focus supplier-level review.</a:t>
            </a:r>
          </a:p>
        </p:txBody>
      </p:sp>
      <p:sp>
        <p:nvSpPr>
          <p:cNvPr id="27" name="Rounded Rectangle 26"/>
          <p:cNvSpPr/>
          <p:nvPr/>
        </p:nvSpPr>
        <p:spPr>
          <a:xfrm>
            <a:off x="6144768" y="4261104"/>
            <a:ext cx="5166360" cy="1024128"/>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44768" y="4261104"/>
            <a:ext cx="68580" cy="1024128"/>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45936" y="4407408"/>
            <a:ext cx="4846320" cy="310896"/>
          </a:xfrm>
          <a:prstGeom prst="rect">
            <a:avLst/>
          </a:prstGeom>
          <a:noFill/>
        </p:spPr>
        <p:txBody>
          <a:bodyPr wrap="square" lIns="36576" rIns="36576" tIns="36576" bIns="36576" anchor="t">
            <a:spAutoFit/>
          </a:bodyPr>
          <a:lstStyle/>
          <a:p>
            <a:pPr algn="l"/>
            <a:r>
              <a:rPr sz="1500" b="1" i="0">
                <a:solidFill>
                  <a:srgbClr val="FFFFFF"/>
                </a:solidFill>
                <a:latin typeface="Aptos"/>
              </a:rPr>
              <a:t>INSIGHT 6</a:t>
            </a:r>
          </a:p>
        </p:txBody>
      </p:sp>
      <p:sp>
        <p:nvSpPr>
          <p:cNvPr id="30" name="TextBox 29"/>
          <p:cNvSpPr txBox="1"/>
          <p:nvPr/>
        </p:nvSpPr>
        <p:spPr>
          <a:xfrm>
            <a:off x="6345936" y="4782312"/>
            <a:ext cx="4846320" cy="365760"/>
          </a:xfrm>
          <a:prstGeom prst="rect">
            <a:avLst/>
          </a:prstGeom>
          <a:noFill/>
        </p:spPr>
        <p:txBody>
          <a:bodyPr wrap="square" lIns="36576" rIns="36576" tIns="36576" bIns="36576" anchor="t">
            <a:spAutoFit/>
          </a:bodyPr>
          <a:lstStyle/>
          <a:p>
            <a:pPr algn="l"/>
            <a:r>
              <a:rPr sz="1150" b="0" i="0">
                <a:solidFill>
                  <a:srgbClr val="CFD9E8"/>
                </a:solidFill>
                <a:latin typeface="Aptos"/>
              </a:rPr>
              <a:t>Interactive filtering allows users to investigate a selected region across all pages.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F45"/>
        </a:solidFill>
        <a:effectLst/>
      </p:bgPr>
    </p:bg>
    <p:spTree>
      <p:nvGrpSpPr>
        <p:cNvPr id="1" name=""/>
        <p:cNvGrpSpPr/>
        <p:nvPr/>
      </p:nvGrpSpPr>
      <p:grpSpPr/>
      <p:sp>
        <p:nvSpPr>
          <p:cNvPr id="2" name="TextBox 1"/>
          <p:cNvSpPr txBox="1"/>
          <p:nvPr/>
        </p:nvSpPr>
        <p:spPr>
          <a:xfrm>
            <a:off x="658368" y="347472"/>
            <a:ext cx="2926080" cy="274320"/>
          </a:xfrm>
          <a:prstGeom prst="rect">
            <a:avLst/>
          </a:prstGeom>
          <a:noFill/>
        </p:spPr>
        <p:txBody>
          <a:bodyPr wrap="square" lIns="36576" rIns="36576" tIns="36576" bIns="36576" anchor="t">
            <a:spAutoFit/>
          </a:bodyPr>
          <a:lstStyle/>
          <a:p>
            <a:pPr algn="l"/>
            <a:r>
              <a:rPr sz="1100" b="1" i="0">
                <a:solidFill>
                  <a:srgbClr val="FFC220"/>
                </a:solidFill>
                <a:latin typeface="Aptos"/>
              </a:rPr>
              <a:t>PROCESS</a:t>
            </a:r>
          </a:p>
        </p:txBody>
      </p:sp>
      <p:sp>
        <p:nvSpPr>
          <p:cNvPr id="3" name="TextBox 2"/>
          <p:cNvSpPr txBox="1"/>
          <p:nvPr/>
        </p:nvSpPr>
        <p:spPr>
          <a:xfrm>
            <a:off x="658368" y="685800"/>
            <a:ext cx="8138160" cy="530352"/>
          </a:xfrm>
          <a:prstGeom prst="rect">
            <a:avLst/>
          </a:prstGeom>
          <a:noFill/>
        </p:spPr>
        <p:txBody>
          <a:bodyPr wrap="square" lIns="36576" rIns="36576" tIns="36576" bIns="36576" anchor="t">
            <a:spAutoFit/>
          </a:bodyPr>
          <a:lstStyle/>
          <a:p>
            <a:pPr algn="l"/>
            <a:r>
              <a:rPr sz="2500" b="1" i="0">
                <a:solidFill>
                  <a:srgbClr val="FFFFFF"/>
                </a:solidFill>
                <a:latin typeface="Aptos"/>
              </a:rPr>
              <a:t>Project Workflow &amp; GitHub Repository</a:t>
            </a:r>
          </a:p>
        </p:txBody>
      </p:sp>
      <p:sp>
        <p:nvSpPr>
          <p:cNvPr id="4" name="Rectangle 3"/>
          <p:cNvSpPr/>
          <p:nvPr/>
        </p:nvSpPr>
        <p:spPr>
          <a:xfrm>
            <a:off x="658368" y="1307592"/>
            <a:ext cx="1051560" cy="5029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6473952"/>
            <a:ext cx="6858000" cy="201168"/>
          </a:xfrm>
          <a:prstGeom prst="rect">
            <a:avLst/>
          </a:prstGeom>
          <a:noFill/>
        </p:spPr>
        <p:txBody>
          <a:bodyPr wrap="square" lIns="36576" rIns="36576" tIns="36576" bIns="36576" anchor="t">
            <a:spAutoFit/>
          </a:bodyPr>
          <a:lstStyle/>
          <a:p>
            <a:pPr algn="l"/>
            <a:r>
              <a:rPr sz="850" b="0" i="0">
                <a:solidFill>
                  <a:srgbClr val="CFD9E8"/>
                </a:solidFill>
                <a:latin typeface="Aptos"/>
              </a:rPr>
              <a:t>Walmart Supply Chain Analytics Dashboard</a:t>
            </a:r>
          </a:p>
        </p:txBody>
      </p:sp>
      <p:sp>
        <p:nvSpPr>
          <p:cNvPr id="6" name="TextBox 5"/>
          <p:cNvSpPr txBox="1"/>
          <p:nvPr/>
        </p:nvSpPr>
        <p:spPr>
          <a:xfrm>
            <a:off x="11018520" y="6446520"/>
            <a:ext cx="502920" cy="228600"/>
          </a:xfrm>
          <a:prstGeom prst="rect">
            <a:avLst/>
          </a:prstGeom>
          <a:noFill/>
        </p:spPr>
        <p:txBody>
          <a:bodyPr wrap="square" lIns="36576" rIns="36576" tIns="36576" bIns="36576" anchor="t">
            <a:spAutoFit/>
          </a:bodyPr>
          <a:lstStyle/>
          <a:p>
            <a:pPr algn="r"/>
            <a:r>
              <a:rPr sz="900" b="0" i="0">
                <a:solidFill>
                  <a:srgbClr val="CFD9E8"/>
                </a:solidFill>
                <a:latin typeface="Aptos"/>
              </a:rPr>
              <a:t>10</a:t>
            </a:r>
          </a:p>
        </p:txBody>
      </p:sp>
      <p:sp>
        <p:nvSpPr>
          <p:cNvPr id="7" name="Rounded Rectangle 6"/>
          <p:cNvSpPr/>
          <p:nvPr/>
        </p:nvSpPr>
        <p:spPr>
          <a:xfrm>
            <a:off x="502920" y="1737360"/>
            <a:ext cx="1243584" cy="621792"/>
          </a:xfrm>
          <a:prstGeom prst="roundRect">
            <a:avLst/>
          </a:prstGeom>
          <a:solidFill>
            <a:srgbClr val="192C54"/>
          </a:solidFill>
          <a:ln>
            <a:solidFill>
              <a:srgbClr val="0071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1856231"/>
            <a:ext cx="1133856" cy="365760"/>
          </a:xfrm>
          <a:prstGeom prst="rect">
            <a:avLst/>
          </a:prstGeom>
          <a:noFill/>
        </p:spPr>
        <p:txBody>
          <a:bodyPr wrap="square" lIns="36576" rIns="36576" tIns="36576" bIns="36576" anchor="ctr">
            <a:spAutoFit/>
          </a:bodyPr>
          <a:lstStyle/>
          <a:p>
            <a:pPr algn="ctr"/>
            <a:r>
              <a:rPr sz="1200" b="1" i="0">
                <a:solidFill>
                  <a:srgbClr val="FFFFFF"/>
                </a:solidFill>
                <a:latin typeface="Aptos"/>
              </a:rPr>
              <a:t>Dataset</a:t>
            </a:r>
          </a:p>
        </p:txBody>
      </p:sp>
      <p:sp>
        <p:nvSpPr>
          <p:cNvPr id="9" name="Right Arrow 8"/>
          <p:cNvSpPr/>
          <p:nvPr/>
        </p:nvSpPr>
        <p:spPr>
          <a:xfrm>
            <a:off x="1764792" y="1901952"/>
            <a:ext cx="128016" cy="292608"/>
          </a:xfrm>
          <a:prstGeom prst="rightArrow">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911095" y="1737360"/>
            <a:ext cx="1243584" cy="621792"/>
          </a:xfrm>
          <a:prstGeom prst="roundRect">
            <a:avLst/>
          </a:prstGeom>
          <a:solidFill>
            <a:srgbClr val="192C54"/>
          </a:solidFill>
          <a:ln>
            <a:solidFill>
              <a:srgbClr val="FFC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65960" y="1856231"/>
            <a:ext cx="1133856" cy="365760"/>
          </a:xfrm>
          <a:prstGeom prst="rect">
            <a:avLst/>
          </a:prstGeom>
          <a:noFill/>
        </p:spPr>
        <p:txBody>
          <a:bodyPr wrap="square" lIns="36576" rIns="36576" tIns="36576" bIns="36576" anchor="ctr">
            <a:spAutoFit/>
          </a:bodyPr>
          <a:lstStyle/>
          <a:p>
            <a:pPr algn="ctr"/>
            <a:r>
              <a:rPr sz="1200" b="1" i="0">
                <a:solidFill>
                  <a:srgbClr val="FFFFFF"/>
                </a:solidFill>
                <a:latin typeface="Aptos"/>
              </a:rPr>
              <a:t>MySQL DB</a:t>
            </a:r>
          </a:p>
        </p:txBody>
      </p:sp>
      <p:sp>
        <p:nvSpPr>
          <p:cNvPr id="12" name="Right Arrow 11"/>
          <p:cNvSpPr/>
          <p:nvPr/>
        </p:nvSpPr>
        <p:spPr>
          <a:xfrm>
            <a:off x="3172968" y="1901952"/>
            <a:ext cx="128016" cy="292608"/>
          </a:xfrm>
          <a:prstGeom prst="rightArrow">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19272" y="1737360"/>
            <a:ext cx="1243584" cy="621792"/>
          </a:xfrm>
          <a:prstGeom prst="roundRect">
            <a:avLst/>
          </a:prstGeom>
          <a:solidFill>
            <a:srgbClr val="192C54"/>
          </a:solidFill>
          <a:ln>
            <a:solidFill>
              <a:srgbClr val="0071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74136" y="1856231"/>
            <a:ext cx="1133856" cy="365760"/>
          </a:xfrm>
          <a:prstGeom prst="rect">
            <a:avLst/>
          </a:prstGeom>
          <a:noFill/>
        </p:spPr>
        <p:txBody>
          <a:bodyPr wrap="square" lIns="36576" rIns="36576" tIns="36576" bIns="36576" anchor="ctr">
            <a:spAutoFit/>
          </a:bodyPr>
          <a:lstStyle/>
          <a:p>
            <a:pPr algn="ctr"/>
            <a:r>
              <a:rPr sz="1200" b="1" i="0">
                <a:solidFill>
                  <a:srgbClr val="FFFFFF"/>
                </a:solidFill>
                <a:latin typeface="Aptos"/>
              </a:rPr>
              <a:t>SQL Validation</a:t>
            </a:r>
          </a:p>
        </p:txBody>
      </p:sp>
      <p:sp>
        <p:nvSpPr>
          <p:cNvPr id="15" name="Right Arrow 14"/>
          <p:cNvSpPr/>
          <p:nvPr/>
        </p:nvSpPr>
        <p:spPr>
          <a:xfrm>
            <a:off x="4581144" y="1901952"/>
            <a:ext cx="128016" cy="292608"/>
          </a:xfrm>
          <a:prstGeom prst="rightArrow">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727448" y="1737360"/>
            <a:ext cx="1243584" cy="621792"/>
          </a:xfrm>
          <a:prstGeom prst="roundRect">
            <a:avLst/>
          </a:prstGeom>
          <a:solidFill>
            <a:srgbClr val="192C54"/>
          </a:solidFill>
          <a:ln>
            <a:solidFill>
              <a:srgbClr val="FFC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82312" y="1856231"/>
            <a:ext cx="1133856" cy="365760"/>
          </a:xfrm>
          <a:prstGeom prst="rect">
            <a:avLst/>
          </a:prstGeom>
          <a:noFill/>
        </p:spPr>
        <p:txBody>
          <a:bodyPr wrap="square" lIns="36576" rIns="36576" tIns="36576" bIns="36576" anchor="ctr">
            <a:spAutoFit/>
          </a:bodyPr>
          <a:lstStyle/>
          <a:p>
            <a:pPr algn="ctr"/>
            <a:r>
              <a:rPr sz="1200" b="1" i="0">
                <a:solidFill>
                  <a:srgbClr val="FFFFFF"/>
                </a:solidFill>
                <a:latin typeface="Aptos"/>
              </a:rPr>
              <a:t>Power BI</a:t>
            </a:r>
          </a:p>
        </p:txBody>
      </p:sp>
      <p:sp>
        <p:nvSpPr>
          <p:cNvPr id="18" name="Right Arrow 17"/>
          <p:cNvSpPr/>
          <p:nvPr/>
        </p:nvSpPr>
        <p:spPr>
          <a:xfrm>
            <a:off x="5989320" y="1901952"/>
            <a:ext cx="128016" cy="292608"/>
          </a:xfrm>
          <a:prstGeom prst="rightArrow">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35624" y="1737360"/>
            <a:ext cx="1243584" cy="621792"/>
          </a:xfrm>
          <a:prstGeom prst="roundRect">
            <a:avLst/>
          </a:prstGeom>
          <a:solidFill>
            <a:srgbClr val="192C54"/>
          </a:solidFill>
          <a:ln>
            <a:solidFill>
              <a:srgbClr val="0071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90488" y="1856231"/>
            <a:ext cx="1133856" cy="365760"/>
          </a:xfrm>
          <a:prstGeom prst="rect">
            <a:avLst/>
          </a:prstGeom>
          <a:noFill/>
        </p:spPr>
        <p:txBody>
          <a:bodyPr wrap="square" lIns="36576" rIns="36576" tIns="36576" bIns="36576" anchor="ctr">
            <a:spAutoFit/>
          </a:bodyPr>
          <a:lstStyle/>
          <a:p>
            <a:pPr algn="ctr"/>
            <a:r>
              <a:rPr sz="1200" b="1" i="0">
                <a:solidFill>
                  <a:srgbClr val="FFFFFF"/>
                </a:solidFill>
                <a:latin typeface="Aptos"/>
              </a:rPr>
              <a:t>Power Query</a:t>
            </a:r>
          </a:p>
        </p:txBody>
      </p:sp>
      <p:sp>
        <p:nvSpPr>
          <p:cNvPr id="21" name="Right Arrow 20"/>
          <p:cNvSpPr/>
          <p:nvPr/>
        </p:nvSpPr>
        <p:spPr>
          <a:xfrm>
            <a:off x="7397496" y="1901952"/>
            <a:ext cx="128016" cy="292608"/>
          </a:xfrm>
          <a:prstGeom prst="rightArrow">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543800" y="1737360"/>
            <a:ext cx="1243584" cy="621792"/>
          </a:xfrm>
          <a:prstGeom prst="roundRect">
            <a:avLst/>
          </a:prstGeom>
          <a:solidFill>
            <a:srgbClr val="192C54"/>
          </a:solidFill>
          <a:ln>
            <a:solidFill>
              <a:srgbClr val="FFC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98664" y="1856231"/>
            <a:ext cx="1133856" cy="365760"/>
          </a:xfrm>
          <a:prstGeom prst="rect">
            <a:avLst/>
          </a:prstGeom>
          <a:noFill/>
        </p:spPr>
        <p:txBody>
          <a:bodyPr wrap="square" lIns="36576" rIns="36576" tIns="36576" bIns="36576" anchor="ctr">
            <a:spAutoFit/>
          </a:bodyPr>
          <a:lstStyle/>
          <a:p>
            <a:pPr algn="ctr"/>
            <a:r>
              <a:rPr sz="1200" b="1" i="0">
                <a:solidFill>
                  <a:srgbClr val="FFFFFF"/>
                </a:solidFill>
                <a:latin typeface="Aptos"/>
              </a:rPr>
              <a:t>DAX</a:t>
            </a:r>
          </a:p>
        </p:txBody>
      </p:sp>
      <p:sp>
        <p:nvSpPr>
          <p:cNvPr id="24" name="Right Arrow 23"/>
          <p:cNvSpPr/>
          <p:nvPr/>
        </p:nvSpPr>
        <p:spPr>
          <a:xfrm>
            <a:off x="8805672" y="1901952"/>
            <a:ext cx="128016" cy="292608"/>
          </a:xfrm>
          <a:prstGeom prst="rightArrow">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951976" y="1737360"/>
            <a:ext cx="1243584" cy="621792"/>
          </a:xfrm>
          <a:prstGeom prst="roundRect">
            <a:avLst/>
          </a:prstGeom>
          <a:solidFill>
            <a:srgbClr val="192C54"/>
          </a:solidFill>
          <a:ln>
            <a:solidFill>
              <a:srgbClr val="0071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06840" y="1856231"/>
            <a:ext cx="1133856" cy="365760"/>
          </a:xfrm>
          <a:prstGeom prst="rect">
            <a:avLst/>
          </a:prstGeom>
          <a:noFill/>
        </p:spPr>
        <p:txBody>
          <a:bodyPr wrap="square" lIns="36576" rIns="36576" tIns="36576" bIns="36576" anchor="ctr">
            <a:spAutoFit/>
          </a:bodyPr>
          <a:lstStyle/>
          <a:p>
            <a:pPr algn="ctr"/>
            <a:r>
              <a:rPr sz="1200" b="1" i="0">
                <a:solidFill>
                  <a:srgbClr val="FFFFFF"/>
                </a:solidFill>
                <a:latin typeface="Aptos"/>
              </a:rPr>
              <a:t>Dashboard</a:t>
            </a:r>
          </a:p>
        </p:txBody>
      </p:sp>
      <p:sp>
        <p:nvSpPr>
          <p:cNvPr id="27" name="Right Arrow 26"/>
          <p:cNvSpPr/>
          <p:nvPr/>
        </p:nvSpPr>
        <p:spPr>
          <a:xfrm>
            <a:off x="10213848" y="1901952"/>
            <a:ext cx="128016" cy="292608"/>
          </a:xfrm>
          <a:prstGeom prst="rightArrow">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360152" y="1737360"/>
            <a:ext cx="1243584" cy="621792"/>
          </a:xfrm>
          <a:prstGeom prst="roundRect">
            <a:avLst/>
          </a:prstGeom>
          <a:solidFill>
            <a:srgbClr val="192C54"/>
          </a:solidFill>
          <a:ln>
            <a:solidFill>
              <a:srgbClr val="FFC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415016" y="1856231"/>
            <a:ext cx="1133856" cy="365760"/>
          </a:xfrm>
          <a:prstGeom prst="rect">
            <a:avLst/>
          </a:prstGeom>
          <a:noFill/>
        </p:spPr>
        <p:txBody>
          <a:bodyPr wrap="square" lIns="36576" rIns="36576" tIns="36576" bIns="36576" anchor="ctr">
            <a:spAutoFit/>
          </a:bodyPr>
          <a:lstStyle/>
          <a:p>
            <a:pPr algn="ctr"/>
            <a:r>
              <a:rPr sz="1200" b="1" i="0">
                <a:solidFill>
                  <a:srgbClr val="FFFFFF"/>
                </a:solidFill>
                <a:latin typeface="Aptos"/>
              </a:rPr>
              <a:t>Insights</a:t>
            </a:r>
          </a:p>
        </p:txBody>
      </p:sp>
      <p:sp>
        <p:nvSpPr>
          <p:cNvPr id="30" name="Rounded Rectangle 29"/>
          <p:cNvSpPr/>
          <p:nvPr/>
        </p:nvSpPr>
        <p:spPr>
          <a:xfrm>
            <a:off x="658368" y="2971800"/>
            <a:ext cx="5349240" cy="2057400"/>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8368" y="2971800"/>
            <a:ext cx="68580" cy="20574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3118104"/>
            <a:ext cx="5029200" cy="310896"/>
          </a:xfrm>
          <a:prstGeom prst="rect">
            <a:avLst/>
          </a:prstGeom>
          <a:noFill/>
        </p:spPr>
        <p:txBody>
          <a:bodyPr wrap="square" lIns="36576" rIns="36576" tIns="36576" bIns="36576" anchor="t">
            <a:spAutoFit/>
          </a:bodyPr>
          <a:lstStyle/>
          <a:p>
            <a:pPr algn="l"/>
            <a:r>
              <a:rPr sz="1500" b="1" i="0">
                <a:solidFill>
                  <a:srgbClr val="FFFFFF"/>
                </a:solidFill>
                <a:latin typeface="Aptos"/>
              </a:rPr>
              <a:t>GitHub Repository</a:t>
            </a:r>
          </a:p>
        </p:txBody>
      </p:sp>
      <p:sp>
        <p:nvSpPr>
          <p:cNvPr id="33" name="TextBox 32"/>
          <p:cNvSpPr txBox="1"/>
          <p:nvPr/>
        </p:nvSpPr>
        <p:spPr>
          <a:xfrm>
            <a:off x="859536" y="3493008"/>
            <a:ext cx="5029200" cy="1399032"/>
          </a:xfrm>
          <a:prstGeom prst="rect">
            <a:avLst/>
          </a:prstGeom>
          <a:noFill/>
        </p:spPr>
        <p:txBody>
          <a:bodyPr wrap="square" lIns="36576" rIns="36576" tIns="36576" bIns="36576" anchor="t">
            <a:spAutoFit/>
          </a:bodyPr>
          <a:lstStyle/>
          <a:p>
            <a:pPr algn="l"/>
            <a:r>
              <a:rPr sz="1300" b="0" i="0">
                <a:solidFill>
                  <a:srgbClr val="CFD9E8"/>
                </a:solidFill>
                <a:latin typeface="Aptos"/>
              </a:rPr>
              <a:t>walmart-supply-chain-analytics/
Dataset/ • SQL/ • PowerBI/ • Screenshots/ • Documentation/ • README.md</a:t>
            </a:r>
          </a:p>
        </p:txBody>
      </p:sp>
      <p:sp>
        <p:nvSpPr>
          <p:cNvPr id="34" name="Rounded Rectangle 33"/>
          <p:cNvSpPr/>
          <p:nvPr/>
        </p:nvSpPr>
        <p:spPr>
          <a:xfrm>
            <a:off x="6236208" y="2971800"/>
            <a:ext cx="5285232" cy="2057400"/>
          </a:xfrm>
          <a:prstGeom prst="roundRect">
            <a:avLst/>
          </a:prstGeom>
          <a:solidFill>
            <a:srgbClr val="192C54"/>
          </a:solidFill>
          <a:ln>
            <a:solidFill>
              <a:srgbClr val="3D5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36208" y="2971800"/>
            <a:ext cx="68580" cy="2057400"/>
          </a:xfrm>
          <a:prstGeom prst="rect">
            <a:avLst/>
          </a:prstGeom>
          <a:solidFill>
            <a:srgbClr val="238C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37376" y="3118104"/>
            <a:ext cx="4965192" cy="310896"/>
          </a:xfrm>
          <a:prstGeom prst="rect">
            <a:avLst/>
          </a:prstGeom>
          <a:noFill/>
        </p:spPr>
        <p:txBody>
          <a:bodyPr wrap="square" lIns="36576" rIns="36576" tIns="36576" bIns="36576" anchor="t">
            <a:spAutoFit/>
          </a:bodyPr>
          <a:lstStyle/>
          <a:p>
            <a:pPr algn="l"/>
            <a:r>
              <a:rPr sz="1500" b="1" i="0">
                <a:solidFill>
                  <a:srgbClr val="FFFFFF"/>
                </a:solidFill>
                <a:latin typeface="Aptos"/>
              </a:rPr>
              <a:t>Project Outcome</a:t>
            </a:r>
          </a:p>
        </p:txBody>
      </p:sp>
      <p:sp>
        <p:nvSpPr>
          <p:cNvPr id="37" name="TextBox 36"/>
          <p:cNvSpPr txBox="1"/>
          <p:nvPr/>
        </p:nvSpPr>
        <p:spPr>
          <a:xfrm>
            <a:off x="6437376" y="3493008"/>
            <a:ext cx="4965192" cy="1399032"/>
          </a:xfrm>
          <a:prstGeom prst="rect">
            <a:avLst/>
          </a:prstGeom>
          <a:noFill/>
        </p:spPr>
        <p:txBody>
          <a:bodyPr wrap="square" lIns="36576" rIns="36576" tIns="36576" bIns="36576" anchor="t">
            <a:spAutoFit/>
          </a:bodyPr>
          <a:lstStyle/>
          <a:p>
            <a:pPr algn="l"/>
            <a:r>
              <a:rPr sz="1300" b="0" i="0">
                <a:solidFill>
                  <a:srgbClr val="CFD9E8"/>
                </a:solidFill>
                <a:latin typeface="Aptos"/>
              </a:rPr>
              <a:t>Built an interactive 3-page Power BI dashboard from a structured MySQL supply chain database, enabling KPI monitoring, regional analysis, inventory review and shipment/supplier performance analysis.</a:t>
            </a:r>
          </a:p>
        </p:txBody>
      </p:sp>
      <p:sp>
        <p:nvSpPr>
          <p:cNvPr id="38" name="TextBox 37"/>
          <p:cNvSpPr txBox="1"/>
          <p:nvPr/>
        </p:nvSpPr>
        <p:spPr>
          <a:xfrm>
            <a:off x="658368" y="5897880"/>
            <a:ext cx="4389120" cy="320040"/>
          </a:xfrm>
          <a:prstGeom prst="rect">
            <a:avLst/>
          </a:prstGeom>
          <a:noFill/>
        </p:spPr>
        <p:txBody>
          <a:bodyPr wrap="square" lIns="36576" rIns="36576" tIns="36576" bIns="36576" anchor="t">
            <a:spAutoFit/>
          </a:bodyPr>
          <a:lstStyle/>
          <a:p>
            <a:pPr algn="l"/>
            <a:r>
              <a:rPr sz="1300" b="1" i="0">
                <a:solidFill>
                  <a:srgbClr val="FFFFFF"/>
                </a:solidFill>
                <a:latin typeface="Aptos"/>
              </a:rPr>
              <a:t>Divya Varshini R - AF05264781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